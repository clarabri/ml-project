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8" r:id="rId14"/>
    <p:sldId id="269" r:id="rId15"/>
    <p:sldId id="267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69180"/>
  </p:normalViewPr>
  <p:slideViewPr>
    <p:cSldViewPr snapToGrid="0" snapToObjects="1">
      <p:cViewPr>
        <p:scale>
          <a:sx n="129" d="100"/>
          <a:sy n="129" d="100"/>
        </p:scale>
        <p:origin x="552" y="-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Strokes</c:v>
                </c:pt>
              </c:strCache>
            </c:strRef>
          </c:tx>
          <c:spPr>
            <a:solidFill>
              <a:srgbClr val="1E9E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8C-C041-8301-D8000EAEF924}"/>
              </c:ext>
            </c:extLst>
          </c:dPt>
          <c:dPt>
            <c:idx val="1"/>
            <c:invertIfNegative val="0"/>
            <c:bubble3D val="0"/>
            <c:spPr>
              <a:solidFill>
                <a:srgbClr val="D64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8C-C041-8301-D8000EAEF9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3242C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GOOD</c:v>
                </c:pt>
                <c:pt idx="1">
                  <c:v>BAD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355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8C-C041-8301-D8000EAEF9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5E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21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yourself and the topic: judging rowing technique on an ergometer.</a:t>
            </a:r>
          </a:p>
          <a:p>
            <a:r>
              <a:rPr lang="en-US" dirty="0"/>
              <a:t>- Hook: *Can we rate every single stroke automatically — from nothing but a video?*</a:t>
            </a:r>
          </a:p>
          <a:p>
            <a:r>
              <a:rPr lang="en-US" dirty="0"/>
              <a:t>- The idea combines </a:t>
            </a:r>
            <a:r>
              <a:rPr lang="en-US" dirty="0" err="1"/>
              <a:t>MediaPipe</a:t>
            </a:r>
            <a:r>
              <a:rPr lang="en-US" dirty="0"/>
              <a:t> pose estimation with a custom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Goal: a model that evaluates stroke quality automatically, after every stroke.</a:t>
            </a:r>
          </a:p>
          <a:p>
            <a:r>
              <a:rPr lang="en-US" dirty="0"/>
              <a:t>- It's a **binary** task: good stroke vs. failed stroke.</a:t>
            </a:r>
          </a:p>
          <a:p>
            <a:r>
              <a:rPr lang="en-US" dirty="0"/>
              <a:t>- Three target properties: per-stroke, video-only (no wearables), real-time-capable.</a:t>
            </a:r>
          </a:p>
          <a:p>
            <a:r>
              <a:rPr lang="en-US" dirty="0"/>
              <a:t>- A working pipeline, normalization, a leak-free split and first baselines are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Quick roadmap so the audience knows where we're going.</a:t>
            </a:r>
          </a:p>
          <a:p>
            <a:r>
              <a:rPr lang="en-US" dirty="0"/>
              <a:t>- Motivation → related work → approach &amp; pipeline → data → the imbalance problem → baselines → the autoencoder →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Today, technique feedback depends on experienced coaches.</a:t>
            </a:r>
          </a:p>
          <a:p>
            <a:r>
              <a:rPr lang="en-US" dirty="0"/>
              <a:t>- That's manual, subjective, time-consuming and doesn't scale.</a:t>
            </a:r>
          </a:p>
          <a:p>
            <a:r>
              <a:rPr lang="en-US" dirty="0"/>
              <a:t>- The idea: automatic feedback straight from ergometer video, so every athlete can get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Used wearable inertial sensors to </a:t>
            </a:r>
            <a:r>
              <a:rPr lang="en-US" dirty="0" err="1"/>
              <a:t>analyse</a:t>
            </a:r>
            <a:r>
              <a:rPr lang="en-US" dirty="0"/>
              <a:t> indoor rowing motion.</a:t>
            </a:r>
          </a:p>
          <a:p>
            <a:r>
              <a:rPr lang="en-US" dirty="0"/>
              <a:t>- Strength: accurate motion capture.</a:t>
            </a:r>
          </a:p>
          <a:p>
            <a:r>
              <a:rPr lang="en-US" dirty="0"/>
              <a:t>- Limitation: the athlete has to wear on-body sensors every session.</a:t>
            </a:r>
          </a:p>
          <a:p>
            <a:r>
              <a:rPr lang="en-US" dirty="0"/>
              <a:t>- My approach avoids that — a camera is all that's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Pose-based deep learning: yoga-pose classification with a CNN + </a:t>
            </a:r>
            <a:r>
              <a:rPr lang="en-US" dirty="0" err="1"/>
              <a:t>MediaPipe</a:t>
            </a:r>
            <a:r>
              <a:rPr lang="en-US" dirty="0"/>
              <a:t>.</a:t>
            </a:r>
          </a:p>
          <a:p>
            <a:r>
              <a:rPr lang="en-US" dirty="0"/>
              <a:t>- Shows that pose landmarks plus a CNN work well for classifying human movement.</a:t>
            </a:r>
          </a:p>
          <a:p>
            <a:r>
              <a:rPr lang="en-US" dirty="0"/>
              <a:t>- That's the inspiration for my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steps: pose extraction (</a:t>
            </a:r>
            <a:r>
              <a:rPr lang="en-US" dirty="0" err="1"/>
              <a:t>MediaPipe</a:t>
            </a:r>
            <a:r>
              <a:rPr lang="en-US" dirty="0"/>
              <a:t>) → custom CNN on the landmark sequences → binary classification.</a:t>
            </a:r>
          </a:p>
          <a:p>
            <a:r>
              <a:rPr lang="en-US" dirty="0"/>
              <a:t>- The two clips show an example good stroke vs. a bad stroke as skeleton overlays.</a:t>
            </a:r>
          </a:p>
          <a:p>
            <a:r>
              <a:rPr lang="en-US" dirty="0"/>
              <a:t>- Everything comes from the video — no extra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Extract </a:t>
            </a:r>
            <a:r>
              <a:rPr lang="en-US" dirty="0" err="1"/>
              <a:t>MediaPipe</a:t>
            </a:r>
            <a:r>
              <a:rPr lang="en-US" dirty="0"/>
              <a:t> landmarks per frame, stored as CSV — 69 features per frame.</a:t>
            </a:r>
          </a:p>
          <a:p>
            <a:r>
              <a:rPr lang="en-US" dirty="0"/>
              <a:t>- </a:t>
            </a:r>
            <a:r>
              <a:rPr lang="en-US" dirty="0" err="1"/>
              <a:t>Downsample</a:t>
            </a:r>
            <a:r>
              <a:rPr lang="en-US" dirty="0"/>
              <a:t> 30 → 10 fps: removes redundancy while keeping the motion.</a:t>
            </a:r>
          </a:p>
          <a:p>
            <a:r>
              <a:rPr lang="en-US" dirty="0"/>
              <a:t>- Normalize so videos from different angles and bodies become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Why: recordings differ in camera angle and in the rower's body proportions.</a:t>
            </a:r>
          </a:p>
          <a:p>
            <a:r>
              <a:rPr lang="en-US" dirty="0"/>
              <a:t>- So raw coordinates aren't comparable across videos.</a:t>
            </a:r>
          </a:p>
          <a:p>
            <a:r>
              <a:rPr lang="en-US" dirty="0"/>
              <a:t>- After normalization the same stroke looks the same, regardless of camera or athlete.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Goal: count strokes and locate the motion phases — catch and finish.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9B70-8528-A373-DD41-F1437F07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09CB9-6C44-02A0-738E-52DA1B3DC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8B1F-69F3-D7F4-8193-5235F8ABE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rowing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extremes. </a:t>
            </a:r>
          </a:p>
          <a:p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catch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rower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fully </a:t>
            </a:r>
            <a:r>
              <a:rPr lang="de-DE" dirty="0" err="1"/>
              <a:t>compressed</a:t>
            </a:r>
            <a:r>
              <a:rPr lang="de-DE" dirty="0"/>
              <a:t> —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far</a:t>
            </a:r>
            <a:r>
              <a:rPr lang="de-DE" dirty="0"/>
              <a:t> </a:t>
            </a:r>
            <a:r>
              <a:rPr lang="de-DE" i="1" dirty="0" err="1"/>
              <a:t>forward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. </a:t>
            </a:r>
          </a:p>
          <a:p>
            <a:r>
              <a:rPr lang="de-DE" dirty="0"/>
              <a:t>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finish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rower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fully </a:t>
            </a:r>
            <a:r>
              <a:rPr lang="de-DE" dirty="0" err="1"/>
              <a:t>extended</a:t>
            </a:r>
            <a:r>
              <a:rPr lang="de-DE" dirty="0"/>
              <a:t> —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far</a:t>
            </a:r>
            <a:r>
              <a:rPr lang="de-DE" dirty="0"/>
              <a:t> </a:t>
            </a:r>
            <a:r>
              <a:rPr lang="de-DE" i="1" dirty="0"/>
              <a:t>back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. Every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swing </a:t>
            </a:r>
            <a:r>
              <a:rPr lang="de-DE" dirty="0" err="1"/>
              <a:t>from</a:t>
            </a:r>
            <a:r>
              <a:rPr lang="de-DE" dirty="0"/>
              <a:t> catch </a:t>
            </a:r>
            <a:r>
              <a:rPr lang="de-DE" dirty="0" err="1"/>
              <a:t>to</a:t>
            </a:r>
            <a:r>
              <a:rPr lang="de-DE" dirty="0"/>
              <a:t> finish and back.</a:t>
            </a:r>
          </a:p>
          <a:p>
            <a:endParaRPr lang="de-DE" dirty="0"/>
          </a:p>
          <a:p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a clean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: </a:t>
            </a:r>
            <a:r>
              <a:rPr lang="de-DE" dirty="0" err="1"/>
              <a:t>we</a:t>
            </a:r>
            <a:r>
              <a:rPr lang="de-DE" dirty="0"/>
              <a:t> track </a:t>
            </a:r>
            <a:r>
              <a:rPr lang="de-DE" dirty="0" err="1"/>
              <a:t>the</a:t>
            </a:r>
            <a:r>
              <a:rPr lang="de-DE" dirty="0"/>
              <a:t> horizontal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time,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rises</a:t>
            </a:r>
            <a:r>
              <a:rPr lang="de-DE" dirty="0"/>
              <a:t> and falls like a </a:t>
            </a:r>
            <a:r>
              <a:rPr lang="de-DE" dirty="0" err="1"/>
              <a:t>wave</a:t>
            </a:r>
            <a:r>
              <a:rPr lang="de-DE" dirty="0"/>
              <a:t> —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 per </a:t>
            </a:r>
            <a:r>
              <a:rPr lang="de-DE" dirty="0" err="1"/>
              <a:t>stroke</a:t>
            </a:r>
            <a:r>
              <a:rPr lang="de-DE" dirty="0"/>
              <a:t>. By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 (finish) and </a:t>
            </a:r>
            <a:r>
              <a:rPr lang="de-DE" dirty="0" err="1"/>
              <a:t>troughs</a:t>
            </a:r>
            <a:r>
              <a:rPr lang="de-DE" dirty="0"/>
              <a:t> (catch)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curve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mark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begins</a:t>
            </a:r>
            <a:r>
              <a:rPr lang="de-DE" dirty="0"/>
              <a:t> and </a:t>
            </a:r>
            <a:r>
              <a:rPr lang="de-DE" dirty="0" err="1"/>
              <a:t>ends</a:t>
            </a:r>
            <a:r>
              <a:rPr lang="de-DE" dirty="0"/>
              <a:t>. </a:t>
            </a:r>
            <a:r>
              <a:rPr lang="de-DE" dirty="0" err="1"/>
              <a:t>Counting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cycles</a:t>
            </a:r>
            <a:r>
              <a:rPr lang="de-DE" dirty="0"/>
              <a:t>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strokes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,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 and </a:t>
            </a:r>
            <a:r>
              <a:rPr lang="de-DE" dirty="0" err="1"/>
              <a:t>troughs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locate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catch and finish </a:t>
            </a:r>
            <a:r>
              <a:rPr lang="de-DE" dirty="0" err="1"/>
              <a:t>phases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C6A8-898F-A62B-3D51-776DB5256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40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random split leaks data: frames of one stroke end up in both train and test → inflated scores.</a:t>
            </a:r>
          </a:p>
          <a:p>
            <a:r>
              <a:rPr lang="en-US" dirty="0"/>
              <a:t>- Instead, split by **stroke**, not by frame.</a:t>
            </a:r>
          </a:p>
          <a:p>
            <a:r>
              <a:rPr lang="en-US" dirty="0"/>
              <a:t>- Whole strokes go entirely to train or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Dummy classifier: always predicts the majority (GOOD) — sets the floor.</a:t>
            </a:r>
          </a:p>
          <a:p>
            <a:r>
              <a:rPr lang="en-US" dirty="0"/>
              <a:t>- Random Forest: class-weighted (balanced) so the rare BAD strokes actually count in training.</a:t>
            </a:r>
          </a:p>
          <a:p>
            <a:r>
              <a:rPr lang="en-US" dirty="0"/>
              <a:t>- Both give us something concrete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Dummy classifier: by always predicting GOOD it makes **zero false positives but misses every bad stroke** — BAD recall 0.00. Its whole error sits in the rare, important class.</a:t>
            </a:r>
          </a:p>
          <a:p>
            <a:r>
              <a:rPr lang="en-US" dirty="0"/>
              <a:t>- That's why its 95% accuracy is misleading: with ~17:1 imbalance, getting the rare class completely wrong barely moves accuracy.</a:t>
            </a:r>
          </a:p>
          <a:p>
            <a:r>
              <a:rPr lang="en-US" dirty="0"/>
              <a:t>This is why Macro F1 0.49 is important here; weights both classes equally, so bad-class errors count</a:t>
            </a:r>
          </a:p>
          <a:p>
            <a:endParaRPr lang="en-US" dirty="0"/>
          </a:p>
          <a:p>
            <a:r>
              <a:rPr lang="en-US" dirty="0"/>
              <a:t>- Random Forest: catches most bad strokes (far fewer false negatives), at the cost of a few false positives on good strokes — a useful trade-off.</a:t>
            </a:r>
          </a:p>
          <a:p>
            <a:r>
              <a:rPr lang="en-US" dirty="0"/>
              <a:t>- The better metrics capture this: ROC-AUC rises to 0.97 (ranks bad above good across all thresholds) and Macro F1 to 0.82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dataset is heavily imbalanced: 355 good vs. 21 bad strokes — about 17 : 1.</a:t>
            </a:r>
          </a:p>
          <a:p>
            <a:r>
              <a:rPr lang="en-US" dirty="0"/>
              <a:t>- The problem: 95% accuracy is reachable by always predicting GOOD — while learning nothing about technique.</a:t>
            </a:r>
          </a:p>
          <a:p>
            <a:r>
              <a:rPr lang="en-US" dirty="0"/>
              <a:t>- So accuracy on its own is the wrong yardstick.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main risk is data quality: only five videos, and every bad stroke came from a single source.</a:t>
            </a:r>
          </a:p>
          <a:p>
            <a:r>
              <a:rPr lang="en-US" dirty="0"/>
              <a:t>- So the model may memorize that one video instead of learning technique.</a:t>
            </a:r>
          </a:p>
          <a:p>
            <a:r>
              <a:rPr lang="en-US" dirty="0"/>
              <a:t>- The 3D-CNN training documentation backs this up — strong train/validation divergence points to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Solution: steadily extend the dataset — record more sessions, first leaving out bad strokes to </a:t>
            </a:r>
            <a:r>
              <a:rPr lang="en-US" dirty="0" err="1"/>
              <a:t>stabilise</a:t>
            </a:r>
            <a:r>
              <a:rPr lang="en-US" dirty="0"/>
              <a:t> the GOOD class.</a:t>
            </a:r>
          </a:p>
          <a:p>
            <a:r>
              <a:rPr lang="en-US" dirty="0"/>
              <a:t>- Result so far: 7 clean videos · 405 strokes · 0 frames without a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dataset now has 8 self-recorded videos — including the first bad-technique clip (21 bad strokes).</a:t>
            </a:r>
          </a:p>
          <a:p>
            <a:r>
              <a:rPr lang="en-US" dirty="0"/>
              <a:t>- Totals: ≈18.7 min, 426 strokes, 11,244 reduced frames, 0 frames without a pose.</a:t>
            </a:r>
          </a:p>
          <a:p>
            <a:r>
              <a:rPr lang="en-US" dirty="0"/>
              <a:t>- A first step towards a balanced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New approach: anomaly detection.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Train the autoencoder on **good strokes only** — it reconstructs correct technique well;</a:t>
            </a:r>
          </a:p>
          <a:p>
            <a:pPr marL="171450" indent="-171450">
              <a:buFontTx/>
              <a:buChar char="-"/>
            </a:pPr>
            <a:r>
              <a:rPr lang="en-US" dirty="0"/>
              <a:t>faulty strokes are expected to be reconstructed poorly; consequently they should be flagged as BAD.</a:t>
            </a:r>
          </a:p>
          <a:p>
            <a:r>
              <a:rPr lang="en-US" dirty="0"/>
              <a:t>- Works on sequences with sliding windows (window 24, stride 12), not single frames.</a:t>
            </a:r>
          </a:p>
          <a:p>
            <a:r>
              <a:rPr lang="en-US" dirty="0"/>
              <a:t>- Threshold from the training MSE (~95th percentile): if a stroke's reconstruction error exceeds it, flag it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Good strokes are detected well (F1 0.91); bad strokes stay hard (recall 0.39, F1 0.47).</a:t>
            </a:r>
          </a:p>
          <a:p>
            <a:r>
              <a:rPr lang="en-US" dirty="0"/>
              <a:t>- Promising, but the model needs more — and more varied — bad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microsoft.com/office/2007/relationships/media" Target="../media/media2.mp4"/><Relationship Id="rId7" Type="http://schemas.openxmlformats.org/officeDocument/2006/relationships/image" Target="../media/image18.png"/><Relationship Id="rId12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1.png"/><Relationship Id="rId4" Type="http://schemas.openxmlformats.org/officeDocument/2006/relationships/video" Target="../media/media2.mp4"/><Relationship Id="rId9" Type="http://schemas.openxmlformats.org/officeDocument/2006/relationships/image" Target="../media/image20.pn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27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2027">
              <a:alpha val="6318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 ·  POSE ESTIMATION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6812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Rowing Motion Analysis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CEA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Stroke-by-stroke quality evaluation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0" cy="384048"/>
          </a:xfrm>
          <a:prstGeom prst="line">
            <a:avLst/>
          </a:prstGeom>
          <a:noFill/>
          <a:ln w="38100">
            <a:solidFill>
              <a:srgbClr val="0FB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 Brilke</a:t>
            </a:r>
            <a:r>
              <a:rPr lang="en-US" sz="1500" dirty="0">
                <a:solidFill>
                  <a:srgbClr val="BF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25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7040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21992"/>
            <a:ext cx="539496" cy="539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632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model that evaluates stroke quality on a rowing ergometer — automatically, after every single stroke.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001000" y="17830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57032" y="2057400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Per-stroke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961120" y="23500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at the granularity of one rowing stroke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01000" y="3273552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57032" y="3547872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6393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Video-only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9611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wearables or on-body sensors required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01000" y="4764024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57032" y="5038344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12978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0" y="4965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Real-time-capable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961120" y="5330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score strokes as they happen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85800" y="4297680"/>
            <a:ext cx="7040880" cy="1417320"/>
          </a:xfrm>
          <a:prstGeom prst="roundRect">
            <a:avLst>
              <a:gd name="adj" fmla="val 6452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0584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so far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" y="48280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task — 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 vs. failed stroke. A working pipeline, normalization, a leak-free split and first baselines are already in place.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talk covers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1399032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99032" y="2148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 stroke assessment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1399032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99032" y="3227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 and pose-based approaches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86784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1399032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&amp; pipeline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99032" y="4306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→ CNN → classification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65776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65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1399032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99032" y="5385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Landmarks, downsampling, normalization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828800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6702552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&amp; split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02552" y="2148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Per-stroke handling, leak-free split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2907792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702552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Fail: The imbalance problem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02552" y="3227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 good vs 21 bad strokes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3986784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6702552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&amp; autoencoder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702552" y="4306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and LSTM-AE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5065776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5065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6702552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02552" y="5385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richer feedback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technique assessment</a:t>
            </a:r>
            <a:r>
              <a:rPr lang="en-US" sz="16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relies on experienced coaches. It is time-consuming, subjective and does not scale.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3154680"/>
            <a:ext cx="4206240" cy="2331720"/>
          </a:xfrm>
          <a:prstGeom prst="roundRect">
            <a:avLst>
              <a:gd name="adj" fmla="val 3922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456432"/>
            <a:ext cx="603504" cy="603504"/>
          </a:xfrm>
          <a:prstGeom prst="ellipse">
            <a:avLst/>
          </a:prstGeom>
          <a:solidFill>
            <a:srgbClr val="16566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47872"/>
            <a:ext cx="420624" cy="420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3456432"/>
            <a:ext cx="603504" cy="603504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387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42062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classify rowing strokes directly from ergometer video — giving every athlete instant feedback.</a:t>
            </a:r>
            <a:endParaRPr lang="en-US" sz="1450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A1743E4-6590-714D-8DE2-22F66795BCCE}"/>
              </a:ext>
            </a:extLst>
          </p:cNvPr>
          <p:cNvGrpSpPr/>
          <p:nvPr/>
        </p:nvGrpSpPr>
        <p:grpSpPr>
          <a:xfrm>
            <a:off x="5462333" y="1691640"/>
            <a:ext cx="3246120" cy="3977640"/>
            <a:chOff x="8686800" y="1691640"/>
            <a:chExt cx="3246120" cy="3977640"/>
          </a:xfrm>
        </p:grpSpPr>
        <p:sp>
          <p:nvSpPr>
            <p:cNvPr id="18" name="Shape 12"/>
            <p:cNvSpPr/>
            <p:nvPr/>
          </p:nvSpPr>
          <p:spPr>
            <a:xfrm>
              <a:off x="8686800" y="1691640"/>
              <a:ext cx="3246120" cy="397764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pic>
          <p:nvPicPr>
            <p:cNvPr id="19" name="Image 4" descr="../assets/mot_bad.jp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796528" y="1801368"/>
              <a:ext cx="3026664" cy="3108960"/>
            </a:xfrm>
            <a:prstGeom prst="rect">
              <a:avLst/>
            </a:prstGeom>
          </p:spPr>
        </p:pic>
        <p:sp>
          <p:nvSpPr>
            <p:cNvPr id="20" name="Shape 13"/>
            <p:cNvSpPr/>
            <p:nvPr/>
          </p:nvSpPr>
          <p:spPr>
            <a:xfrm>
              <a:off x="8869680" y="1874520"/>
              <a:ext cx="384048" cy="384048"/>
            </a:xfrm>
            <a:prstGeom prst="ellipse">
              <a:avLst/>
            </a:prstGeom>
            <a:solidFill>
              <a:srgbClr val="D6453B"/>
            </a:solidFill>
            <a:ln/>
          </p:spPr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1976" y="1956816"/>
              <a:ext cx="219456" cy="219456"/>
            </a:xfrm>
            <a:prstGeom prst="rect">
              <a:avLst/>
            </a:prstGeom>
          </p:spPr>
        </p:pic>
        <p:sp>
          <p:nvSpPr>
            <p:cNvPr id="22" name="Text 14"/>
            <p:cNvSpPr/>
            <p:nvPr/>
          </p:nvSpPr>
          <p:spPr>
            <a:xfrm>
              <a:off x="8823960" y="4956048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D645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Faulty technique</a:t>
              </a:r>
              <a:endParaRPr lang="en-US" sz="1400" dirty="0"/>
            </a:p>
          </p:txBody>
        </p:sp>
        <p:sp>
          <p:nvSpPr>
            <p:cNvPr id="23" name="Text 15"/>
            <p:cNvSpPr/>
            <p:nvPr/>
          </p:nvSpPr>
          <p:spPr>
            <a:xfrm>
              <a:off x="8823960" y="5212080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E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Hunched back · heels lifting · early arm pull</a:t>
              </a:r>
              <a:endParaRPr lang="en-US" sz="1050" dirty="0"/>
            </a:p>
          </p:txBody>
        </p:sp>
      </p:grpSp>
      <p:sp>
        <p:nvSpPr>
          <p:cNvPr id="24" name="Shape 16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5" name="Text 17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E092ED0C-3325-8EEF-E936-1AE2586FF425}"/>
              </a:ext>
            </a:extLst>
          </p:cNvPr>
          <p:cNvGrpSpPr/>
          <p:nvPr/>
        </p:nvGrpSpPr>
        <p:grpSpPr>
          <a:xfrm>
            <a:off x="8829731" y="1714500"/>
            <a:ext cx="3246120" cy="3977640"/>
            <a:chOff x="1097280" y="269748"/>
            <a:chExt cx="3246120" cy="3977640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BFF25104-B8DB-5AC8-827D-44738B5F833E}"/>
                </a:ext>
              </a:extLst>
            </p:cNvPr>
            <p:cNvGrpSpPr/>
            <p:nvPr/>
          </p:nvGrpSpPr>
          <p:grpSpPr>
            <a:xfrm>
              <a:off x="1097280" y="269748"/>
              <a:ext cx="3246120" cy="3977640"/>
              <a:chOff x="5257800" y="1691640"/>
              <a:chExt cx="3246120" cy="3977640"/>
            </a:xfrm>
          </p:grpSpPr>
          <p:sp>
            <p:nvSpPr>
              <p:cNvPr id="12" name="Shape 8"/>
              <p:cNvSpPr/>
              <p:nvPr/>
            </p:nvSpPr>
            <p:spPr>
              <a:xfrm>
                <a:off x="5257800" y="1691640"/>
                <a:ext cx="3246120" cy="397764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/>
              <a:effectLst>
                <a:outerShdw blurRad="114300" dist="38100" dir="5400000" algn="bl" rotWithShape="0">
                  <a:srgbClr val="1B3A45">
                    <a:alpha val="16000"/>
                  </a:srgbClr>
                </a:outerShdw>
              </a:effectLst>
            </p:spPr>
          </p:sp>
          <p:pic>
            <p:nvPicPr>
              <p:cNvPr id="13" name="Image 2" descr="../assets/mot_good.jpg"/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5367528" y="1801368"/>
                <a:ext cx="3026664" cy="3108960"/>
              </a:xfrm>
              <a:prstGeom prst="rect">
                <a:avLst/>
              </a:prstGeom>
            </p:spPr>
          </p:pic>
          <p:sp>
            <p:nvSpPr>
              <p:cNvPr id="16" name="Text 10"/>
              <p:cNvSpPr/>
              <p:nvPr/>
            </p:nvSpPr>
            <p:spPr>
              <a:xfrm>
                <a:off x="5394960" y="4956048"/>
                <a:ext cx="29718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E9E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Good technique</a:t>
                </a:r>
                <a:endParaRPr lang="en-US" sz="1400" dirty="0"/>
              </a:p>
            </p:txBody>
          </p:sp>
          <p:sp>
            <p:nvSpPr>
              <p:cNvPr id="17" name="Text 11"/>
              <p:cNvSpPr/>
              <p:nvPr/>
            </p:nvSpPr>
            <p:spPr>
              <a:xfrm>
                <a:off x="5394960" y="5212080"/>
                <a:ext cx="2971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5E74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Straight back · heels down · legs then arms</a:t>
                </a:r>
                <a:endParaRPr lang="en-US" sz="1050" dirty="0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F03E94EE-80C3-7615-C67B-DD83AF903DAC}"/>
                </a:ext>
              </a:extLst>
            </p:cNvPr>
            <p:cNvGrpSpPr/>
            <p:nvPr/>
          </p:nvGrpSpPr>
          <p:grpSpPr>
            <a:xfrm>
              <a:off x="1234440" y="410999"/>
              <a:ext cx="384048" cy="384048"/>
              <a:chOff x="5440680" y="1874520"/>
              <a:chExt cx="384048" cy="384048"/>
            </a:xfrm>
          </p:grpSpPr>
          <p:sp>
            <p:nvSpPr>
              <p:cNvPr id="14" name="Shape 9"/>
              <p:cNvSpPr/>
              <p:nvPr/>
            </p:nvSpPr>
            <p:spPr>
              <a:xfrm>
                <a:off x="5440680" y="1874520"/>
                <a:ext cx="384048" cy="384048"/>
              </a:xfrm>
              <a:prstGeom prst="ellipse">
                <a:avLst/>
              </a:prstGeom>
              <a:solidFill>
                <a:srgbClr val="1E9E54"/>
              </a:solidFill>
              <a:ln/>
            </p:spPr>
          </p:sp>
          <p:pic>
            <p:nvPicPr>
              <p:cNvPr id="15" name="Image 3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22976" y="1956816"/>
                <a:ext cx="219456" cy="21945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1 /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inertial sensors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et al. (2015)</a:t>
            </a:r>
            <a:r>
              <a:rPr lang="en-US" sz="13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Analysis of indoor rowing motion using wearable inertial sensors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304288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95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4028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5603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experienced from novice rowers.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319272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1832" y="3566160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657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502152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82219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k-Nearest-</a:t>
            </a:r>
            <a:r>
              <a:rPr lang="en-US" sz="1250" dirty="0" err="1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581144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" y="4828032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194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64024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08406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differences in stroke-timing consistency — but no difference in absolute posture angles.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863840" y="2057400"/>
            <a:ext cx="3657600" cy="3584448"/>
          </a:xfrm>
          <a:prstGeom prst="roundRect">
            <a:avLst>
              <a:gd name="adj" fmla="val 2551"/>
            </a:avLst>
          </a:prstGeom>
          <a:solidFill>
            <a:srgbClr val="FBF1D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83880" y="2377440"/>
            <a:ext cx="640080" cy="640080"/>
          </a:xfrm>
          <a:prstGeom prst="ellipse">
            <a:avLst/>
          </a:prstGeom>
          <a:solidFill>
            <a:srgbClr val="EC9A1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514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838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18388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Relies on on-body sensors — the athlete has to wear hardware on every session.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18388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A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 avoids this — </a:t>
            </a:r>
            <a:r>
              <a:rPr lang="en-US" sz="13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is all that is needed.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2 /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Pose-based deep learning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 et al. (2022)</a:t>
            </a:r>
            <a:r>
              <a:rPr lang="en-US" sz="13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Yoga pose classification: a CNN and MediaPipe inspired deep-learning approach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322576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414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55064" y="22219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55064" y="2532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yoga postures; compare models with vs. without skeletonization.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319272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23544" y="3584448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6758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55064" y="348386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55064" y="379476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skeletonization, then CNN and transfer-learning models.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581144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3544" y="4846320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9377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55064" y="4745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55064" y="505663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 clearly boosts performance — and a custom CNN benefits most, beating the transfer-learning models.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0" y="2057400"/>
            <a:ext cx="4663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1" name="Image 3" descr="../assets/image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0880" y="2240280"/>
            <a:ext cx="4297680" cy="19659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skeleton → classification  (Garg et al.)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58000" y="4544568"/>
            <a:ext cx="4663440" cy="1097280"/>
          </a:xfrm>
          <a:prstGeom prst="roundRect">
            <a:avLst>
              <a:gd name="adj" fmla="val 8333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84632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0" y="4681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 + a custom CNN is the most promising route — this directly motivates my design.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28320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5" name="Shape 3"/>
          <p:cNvSpPr/>
          <p:nvPr/>
        </p:nvSpPr>
        <p:spPr>
          <a:xfrm>
            <a:off x="1002640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944" y="22219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2920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8" name="Text 5"/>
          <p:cNvSpPr/>
          <p:nvPr/>
        </p:nvSpPr>
        <p:spPr>
          <a:xfrm>
            <a:off x="324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002640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extraction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2640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landmarks from ergometer video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1872" y="2414016"/>
            <a:ext cx="411480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95648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13" name="Shape 9"/>
          <p:cNvSpPr/>
          <p:nvPr/>
        </p:nvSpPr>
        <p:spPr>
          <a:xfrm>
            <a:off x="4769968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6272" y="2221992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010248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16" name="Text 11"/>
          <p:cNvSpPr/>
          <p:nvPr/>
        </p:nvSpPr>
        <p:spPr>
          <a:xfrm>
            <a:off x="7010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60" dirty="0"/>
          </a:p>
        </p:txBody>
      </p:sp>
      <p:sp>
        <p:nvSpPr>
          <p:cNvPr id="17" name="Text 12"/>
          <p:cNvSpPr/>
          <p:nvPr/>
        </p:nvSpPr>
        <p:spPr>
          <a:xfrm>
            <a:off x="4769968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69968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landmark sequences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9200" y="2414016"/>
            <a:ext cx="411480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62976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21" name="Shape 15"/>
          <p:cNvSpPr/>
          <p:nvPr/>
        </p:nvSpPr>
        <p:spPr>
          <a:xfrm>
            <a:off x="8537296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3600" y="2221992"/>
            <a:ext cx="347472" cy="34747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777576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24" name="Text 17"/>
          <p:cNvSpPr/>
          <p:nvPr/>
        </p:nvSpPr>
        <p:spPr>
          <a:xfrm>
            <a:off x="1077757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60" dirty="0"/>
          </a:p>
        </p:txBody>
      </p:sp>
      <p:sp>
        <p:nvSpPr>
          <p:cNvPr id="25" name="Text 18"/>
          <p:cNvSpPr/>
          <p:nvPr/>
        </p:nvSpPr>
        <p:spPr>
          <a:xfrm>
            <a:off x="8537296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537296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 vs. bad stroke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706728" y="370332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0E2F39"/>
          </a:solidFill>
          <a:ln/>
        </p:spPr>
      </p:sp>
      <p:pic>
        <p:nvPicPr>
          <p:cNvPr id="2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986888" y="3831336"/>
            <a:ext cx="1600200" cy="16002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62760" y="5468112"/>
            <a:ext cx="310896" cy="310896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6768" y="553212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365096" y="54681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24448" y="370332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0E2F39"/>
          </a:solidFill>
          <a:ln/>
        </p:spPr>
      </p:sp>
      <p:pic>
        <p:nvPicPr>
          <p:cNvPr id="33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604608" y="3831336"/>
            <a:ext cx="1600200" cy="16002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80480" y="5468112"/>
            <a:ext cx="310896" cy="310896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4488" y="5532120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82816" y="54681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· 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00200" y="212140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2128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extraction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377440" y="23957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coordinates stored as CSV — 69 features per frame.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236976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00200" y="3529584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621024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3438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2377440" y="3803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→ 10 fps: removes redundancy while keeping the motion.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" y="4645152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0120" y="4919472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600200" y="493776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029200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37744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2377440" y="5212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videos from different angles and body proportions comparable.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812280" y="1828800"/>
            <a:ext cx="4709160" cy="3931920"/>
          </a:xfrm>
          <a:prstGeom prst="roundRect">
            <a:avLst>
              <a:gd name="adj" fmla="val 2326"/>
            </a:avLst>
          </a:prstGeom>
          <a:solidFill>
            <a:srgbClr val="12333D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86600" y="2011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data  ·  CSV</a:t>
            </a:r>
            <a:endParaRPr lang="en-US" sz="1200" dirty="0"/>
          </a:p>
        </p:txBody>
      </p:sp>
      <p:pic>
        <p:nvPicPr>
          <p:cNvPr id="27" name="Image 3" descr="../assets/image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0880" y="2468880"/>
            <a:ext cx="4251960" cy="9144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086600" y="3611880"/>
            <a:ext cx="4160520" cy="0"/>
          </a:xfrm>
          <a:prstGeom prst="line">
            <a:avLst/>
          </a:prstGeom>
          <a:noFill/>
          <a:ln w="12700">
            <a:solidFill>
              <a:srgbClr val="2A4E5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2300" dirty="0"/>
          </a:p>
        </p:txBody>
      </p:sp>
      <p:sp>
        <p:nvSpPr>
          <p:cNvPr id="30" name="Text 24"/>
          <p:cNvSpPr/>
          <p:nvPr/>
        </p:nvSpPr>
        <p:spPr>
          <a:xfrm>
            <a:off x="708660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/ frame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47344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30→10</a:t>
            </a:r>
            <a:endParaRPr lang="en-US" sz="2300" dirty="0"/>
          </a:p>
        </p:txBody>
      </p:sp>
      <p:sp>
        <p:nvSpPr>
          <p:cNvPr id="32" name="Text 26"/>
          <p:cNvSpPr/>
          <p:nvPr/>
        </p:nvSpPr>
        <p:spPr>
          <a:xfrm>
            <a:off x="847344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reduction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86028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2300" dirty="0"/>
          </a:p>
        </p:txBody>
      </p:sp>
      <p:sp>
        <p:nvSpPr>
          <p:cNvPr id="34" name="Text 28"/>
          <p:cNvSpPr/>
          <p:nvPr/>
        </p:nvSpPr>
        <p:spPr>
          <a:xfrm>
            <a:off x="986028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per-frame export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086600" y="48920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CD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returns a pose for every frame — 0 frames without a detected pose across the dataset.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37" name="Text 3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· 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 differ in camera angle and in the rower's body proportions, so raw coordinates are not comparable across videos.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each pose on a hip reference and scale by torso length — making strokes directly comparable.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BF1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389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stroke, same representation — regardless of who is rowing or where the camera stands.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12080" y="1737360"/>
            <a:ext cx="6309360" cy="3931920"/>
          </a:xfrm>
          <a:prstGeom prst="roundRect">
            <a:avLst>
              <a:gd name="adj" fmla="val 2326"/>
            </a:avLst>
          </a:prstGeom>
          <a:solidFill>
            <a:srgbClr val="0E2F39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9FB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782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1200" dirty="0"/>
          </a:p>
        </p:txBody>
      </p:sp>
      <p:pic>
        <p:nvPicPr>
          <p:cNvPr id="12" name="Image 1" descr="../assets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2240280"/>
            <a:ext cx="2331720" cy="14630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825496"/>
            <a:ext cx="457200" cy="310896"/>
          </a:xfrm>
          <a:prstGeom prst="rect">
            <a:avLst/>
          </a:prstGeom>
        </p:spPr>
      </p:pic>
      <p:pic>
        <p:nvPicPr>
          <p:cNvPr id="14" name="Image 3" descr="../assets/image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9680" y="2240280"/>
            <a:ext cx="2331720" cy="1463040"/>
          </a:xfrm>
          <a:prstGeom prst="rect">
            <a:avLst/>
          </a:prstGeom>
        </p:spPr>
      </p:pic>
      <p:pic>
        <p:nvPicPr>
          <p:cNvPr id="15" name="Image 4" descr="../assets/image1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32120" y="3886200"/>
            <a:ext cx="2331720" cy="146304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471416"/>
            <a:ext cx="457200" cy="310896"/>
          </a:xfrm>
          <a:prstGeom prst="rect">
            <a:avLst/>
          </a:prstGeom>
        </p:spPr>
      </p:pic>
      <p:pic>
        <p:nvPicPr>
          <p:cNvPr id="17" name="Image 6" descr="../assets/image9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9680" y="3886200"/>
            <a:ext cx="2331720" cy="14630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9" name="Text 1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Segmenting strokes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strokes and locate the motion phases — catch and finish.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detection on the smoothed motion signal splits the sequence into individual strokes of ~24–28 frames each.</a:t>
            </a:r>
            <a:endParaRPr lang="en-US" sz="145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A4557D1-0BC4-FA2C-3374-F1A7FB6EE8DA}"/>
              </a:ext>
            </a:extLst>
          </p:cNvPr>
          <p:cNvGrpSpPr/>
          <p:nvPr/>
        </p:nvGrpSpPr>
        <p:grpSpPr>
          <a:xfrm>
            <a:off x="5277678" y="1527047"/>
            <a:ext cx="6530009" cy="3631361"/>
            <a:chOff x="5212080" y="1737360"/>
            <a:chExt cx="6309360" cy="3931920"/>
          </a:xfrm>
        </p:grpSpPr>
        <p:sp>
          <p:nvSpPr>
            <p:cNvPr id="9" name="Shape 6"/>
            <p:cNvSpPr/>
            <p:nvPr/>
          </p:nvSpPr>
          <p:spPr>
            <a:xfrm>
              <a:off x="5212080" y="1737360"/>
              <a:ext cx="6309360" cy="3931920"/>
            </a:xfrm>
            <a:prstGeom prst="roundRect">
              <a:avLst>
                <a:gd name="adj" fmla="val 2326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5486400" y="1901952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Detected strokes over time</a:t>
              </a:r>
              <a:endParaRPr lang="en-US" sz="1300" dirty="0"/>
            </a:p>
          </p:txBody>
        </p:sp>
        <p:pic>
          <p:nvPicPr>
            <p:cNvPr id="11" name="Image 1" descr="../assets/image12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440680" y="2286000"/>
              <a:ext cx="5852160" cy="274320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486400" y="521208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5E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peak marks one stroke; phase boundaries give catch and finish.</a:t>
              </a:r>
              <a:endParaRPr lang="en-US" sz="1050" dirty="0"/>
            </a:p>
          </p:txBody>
        </p:sp>
      </p:grpSp>
      <p:sp>
        <p:nvSpPr>
          <p:cNvPr id="13" name="Shape 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CF12-57D5-C741-E2C1-EC82ABD1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6CBE9C-DC57-C6F6-1AB2-A9821F933C59}"/>
              </a:ext>
            </a:extLst>
          </p:cNvPr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156EF9-22D5-FCCD-2A3E-A7BB6E719174}"/>
              </a:ext>
            </a:extLst>
          </p:cNvPr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Segmenting strokes</a:t>
            </a:r>
            <a:endParaRPr lang="en-US" sz="33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8C7D410-8C14-0CB0-CBCC-B39DBC052BBB}"/>
              </a:ext>
            </a:extLst>
          </p:cNvPr>
          <p:cNvGrpSpPr/>
          <p:nvPr/>
        </p:nvGrpSpPr>
        <p:grpSpPr>
          <a:xfrm>
            <a:off x="6096000" y="1527048"/>
            <a:ext cx="5691809" cy="4241573"/>
            <a:chOff x="685800" y="3703320"/>
            <a:chExt cx="4206240" cy="196596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B644AF7-07A3-49BD-AC3A-3BBA808B3A66}"/>
                </a:ext>
              </a:extLst>
            </p:cNvPr>
            <p:cNvSpPr/>
            <p:nvPr/>
          </p:nvSpPr>
          <p:spPr>
            <a:xfrm>
              <a:off x="685800" y="3703320"/>
              <a:ext cx="4206240" cy="1965960"/>
            </a:xfrm>
            <a:prstGeom prst="roundRect">
              <a:avLst>
                <a:gd name="adj" fmla="val 4651"/>
              </a:avLst>
            </a:prstGeom>
            <a:solidFill>
              <a:srgbClr val="12333D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921E8B7-DD0B-AFB9-6ADE-63161529183A}"/>
                </a:ext>
              </a:extLst>
            </p:cNvPr>
            <p:cNvSpPr/>
            <p:nvPr/>
          </p:nvSpPr>
          <p:spPr>
            <a:xfrm>
              <a:off x="914400" y="3718036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Segmentation  ·  peak detection</a:t>
              </a:r>
              <a:endParaRPr lang="en-US" sz="1100" dirty="0"/>
            </a:p>
          </p:txBody>
        </p:sp>
        <p:pic>
          <p:nvPicPr>
            <p:cNvPr id="8" name="Image 0" descr="../assets/image13.png">
              <a:extLst>
                <a:ext uri="{FF2B5EF4-FFF2-40B4-BE49-F238E27FC236}">
                  <a16:creationId xmlns:a16="http://schemas.microsoft.com/office/drawing/2014/main" id="{A312DABC-2D58-4CAE-8BAE-E5990E938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68680" y="4055251"/>
              <a:ext cx="3840480" cy="1476869"/>
            </a:xfrm>
            <a:prstGeom prst="rect">
              <a:avLst/>
            </a:prstGeom>
          </p:spPr>
        </p:pic>
      </p:grpSp>
      <p:sp>
        <p:nvSpPr>
          <p:cNvPr id="13" name="Shape 9">
            <a:extLst>
              <a:ext uri="{FF2B5EF4-FFF2-40B4-BE49-F238E27FC236}">
                <a16:creationId xmlns:a16="http://schemas.microsoft.com/office/drawing/2014/main" id="{06FE8B13-BBCC-BD8B-FF57-A3F3CBA4F312}"/>
              </a:ext>
            </a:extLst>
          </p:cNvPr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6C38E4A-1727-F3A9-19E3-83B2589B2A0D}"/>
              </a:ext>
            </a:extLst>
          </p:cNvPr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7B5A312-9A4B-5B4C-E369-303AECFA98F8}"/>
              </a:ext>
            </a:extLst>
          </p:cNvPr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5FFBBCD-9861-0383-9AF4-9F99B6141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27048"/>
            <a:ext cx="4919870" cy="34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5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Stroke-aware train / test split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76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 confuses data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stroke is ~24–28 consecutive, highly correlated frames. A plain shuffle-and-split puts neighbouring frames in both train and test.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79476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4069080"/>
            <a:ext cx="548640" cy="548640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187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stroke, not by frame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6012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frame a </a:t>
            </a:r>
            <a:r>
              <a:rPr lang="en-US" sz="1250" b="1" dirty="0">
                <a:solidFill>
                  <a:srgbClr val="156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stroke_id</a:t>
            </a:r>
            <a:r>
              <a:rPr lang="en-US" sz="1250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split on that id. It is reconstructed from the known frame and stroke counts per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59" y="1783080"/>
            <a:ext cx="5722219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83680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frames group into strokes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20840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7" name="Shape 13"/>
          <p:cNvSpPr/>
          <p:nvPr/>
        </p:nvSpPr>
        <p:spPr>
          <a:xfrm>
            <a:off x="6894576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8" name="Shape 14"/>
          <p:cNvSpPr/>
          <p:nvPr/>
        </p:nvSpPr>
        <p:spPr>
          <a:xfrm>
            <a:off x="7068312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9" name="Shape 15"/>
          <p:cNvSpPr/>
          <p:nvPr/>
        </p:nvSpPr>
        <p:spPr>
          <a:xfrm>
            <a:off x="7242048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20" name="Shape 16"/>
          <p:cNvSpPr/>
          <p:nvPr/>
        </p:nvSpPr>
        <p:spPr>
          <a:xfrm>
            <a:off x="7415784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1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790688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3" name="Shape 19"/>
          <p:cNvSpPr/>
          <p:nvPr/>
        </p:nvSpPr>
        <p:spPr>
          <a:xfrm>
            <a:off x="7964424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4" name="Shape 20"/>
          <p:cNvSpPr/>
          <p:nvPr/>
        </p:nvSpPr>
        <p:spPr>
          <a:xfrm>
            <a:off x="8138160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5" name="Shape 21"/>
          <p:cNvSpPr/>
          <p:nvPr/>
        </p:nvSpPr>
        <p:spPr>
          <a:xfrm>
            <a:off x="8311896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6" name="Shape 22"/>
          <p:cNvSpPr/>
          <p:nvPr/>
        </p:nvSpPr>
        <p:spPr>
          <a:xfrm>
            <a:off x="8485632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7" name="Text 23"/>
          <p:cNvSpPr/>
          <p:nvPr/>
        </p:nvSpPr>
        <p:spPr>
          <a:xfrm>
            <a:off x="7790688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2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8860536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29" name="Shape 25"/>
          <p:cNvSpPr/>
          <p:nvPr/>
        </p:nvSpPr>
        <p:spPr>
          <a:xfrm>
            <a:off x="9034272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0" name="Shape 26"/>
          <p:cNvSpPr/>
          <p:nvPr/>
        </p:nvSpPr>
        <p:spPr>
          <a:xfrm>
            <a:off x="9208008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1" name="Shape 27"/>
          <p:cNvSpPr/>
          <p:nvPr/>
        </p:nvSpPr>
        <p:spPr>
          <a:xfrm>
            <a:off x="9381744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2" name="Shape 28"/>
          <p:cNvSpPr/>
          <p:nvPr/>
        </p:nvSpPr>
        <p:spPr>
          <a:xfrm>
            <a:off x="9555480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3" name="Text 29"/>
          <p:cNvSpPr/>
          <p:nvPr/>
        </p:nvSpPr>
        <p:spPr>
          <a:xfrm>
            <a:off x="8860536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3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930384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5" name="Shape 31"/>
          <p:cNvSpPr/>
          <p:nvPr/>
        </p:nvSpPr>
        <p:spPr>
          <a:xfrm>
            <a:off x="10104120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6" name="Shape 32"/>
          <p:cNvSpPr/>
          <p:nvPr/>
        </p:nvSpPr>
        <p:spPr>
          <a:xfrm>
            <a:off x="10277856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7" name="Shape 33"/>
          <p:cNvSpPr/>
          <p:nvPr/>
        </p:nvSpPr>
        <p:spPr>
          <a:xfrm>
            <a:off x="10451592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8" name="Shape 34"/>
          <p:cNvSpPr/>
          <p:nvPr/>
        </p:nvSpPr>
        <p:spPr>
          <a:xfrm>
            <a:off x="10625328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9" name="Text 35"/>
          <p:cNvSpPr/>
          <p:nvPr/>
        </p:nvSpPr>
        <p:spPr>
          <a:xfrm>
            <a:off x="9930384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4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1000232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1" name="Shape 37"/>
          <p:cNvSpPr/>
          <p:nvPr/>
        </p:nvSpPr>
        <p:spPr>
          <a:xfrm>
            <a:off x="11173968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2" name="Shape 38"/>
          <p:cNvSpPr/>
          <p:nvPr/>
        </p:nvSpPr>
        <p:spPr>
          <a:xfrm>
            <a:off x="11347704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3" name="Shape 39"/>
          <p:cNvSpPr/>
          <p:nvPr/>
        </p:nvSpPr>
        <p:spPr>
          <a:xfrm>
            <a:off x="11521440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4" name="Shape 40"/>
          <p:cNvSpPr/>
          <p:nvPr/>
        </p:nvSpPr>
        <p:spPr>
          <a:xfrm>
            <a:off x="11695176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5" name="Text 41"/>
          <p:cNvSpPr/>
          <p:nvPr/>
        </p:nvSpPr>
        <p:spPr>
          <a:xfrm>
            <a:off x="11000232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5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58368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block = one stroke (≈24–28 frames, shown reduced)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720840" y="3611880"/>
            <a:ext cx="5062086" cy="0"/>
          </a:xfrm>
          <a:prstGeom prst="line">
            <a:avLst/>
          </a:prstGeom>
          <a:noFill/>
          <a:ln w="12700">
            <a:solidFill>
              <a:srgbClr val="E1EAED"/>
            </a:solidFill>
            <a:prstDash val="dash"/>
          </a:ln>
        </p:spPr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14B0187-6758-6A59-1457-5DA531A865D7}"/>
              </a:ext>
            </a:extLst>
          </p:cNvPr>
          <p:cNvGrpSpPr/>
          <p:nvPr/>
        </p:nvGrpSpPr>
        <p:grpSpPr>
          <a:xfrm>
            <a:off x="6720840" y="3794760"/>
            <a:ext cx="2980944" cy="1554480"/>
            <a:chOff x="6720840" y="3794760"/>
            <a:chExt cx="2743200" cy="1554480"/>
          </a:xfrm>
        </p:grpSpPr>
        <p:sp>
          <p:nvSpPr>
            <p:cNvPr id="48" name="Shape 44"/>
            <p:cNvSpPr/>
            <p:nvPr/>
          </p:nvSpPr>
          <p:spPr>
            <a:xfrm>
              <a:off x="6720840" y="3794760"/>
              <a:ext cx="2743200" cy="1554480"/>
            </a:xfrm>
            <a:prstGeom prst="roundRect">
              <a:avLst>
                <a:gd name="adj" fmla="val 4706"/>
              </a:avLst>
            </a:prstGeom>
            <a:solidFill>
              <a:srgbClr val="E9F7F2"/>
            </a:solidFill>
            <a:ln/>
          </p:spPr>
        </p:sp>
        <p:sp>
          <p:nvSpPr>
            <p:cNvPr id="49" name="Text 45"/>
            <p:cNvSpPr/>
            <p:nvPr/>
          </p:nvSpPr>
          <p:spPr>
            <a:xfrm>
              <a:off x="6720840" y="393192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1568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</a:t>
              </a:r>
              <a:endParaRPr lang="en-US" sz="1100" dirty="0"/>
            </a:p>
          </p:txBody>
        </p:sp>
        <p:sp>
          <p:nvSpPr>
            <p:cNvPr id="50" name="Shape 46"/>
            <p:cNvSpPr/>
            <p:nvPr/>
          </p:nvSpPr>
          <p:spPr>
            <a:xfrm>
              <a:off x="694944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1" name="Shape 47"/>
            <p:cNvSpPr/>
            <p:nvPr/>
          </p:nvSpPr>
          <p:spPr>
            <a:xfrm>
              <a:off x="708660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2" name="Shape 48"/>
            <p:cNvSpPr/>
            <p:nvPr/>
          </p:nvSpPr>
          <p:spPr>
            <a:xfrm>
              <a:off x="722376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3" name="Shape 49"/>
            <p:cNvSpPr/>
            <p:nvPr/>
          </p:nvSpPr>
          <p:spPr>
            <a:xfrm>
              <a:off x="736092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4" name="Shape 50"/>
            <p:cNvSpPr/>
            <p:nvPr/>
          </p:nvSpPr>
          <p:spPr>
            <a:xfrm>
              <a:off x="749808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5" name="Shape 51"/>
            <p:cNvSpPr/>
            <p:nvPr/>
          </p:nvSpPr>
          <p:spPr>
            <a:xfrm>
              <a:off x="781812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6" name="Shape 52"/>
            <p:cNvSpPr/>
            <p:nvPr/>
          </p:nvSpPr>
          <p:spPr>
            <a:xfrm>
              <a:off x="795528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7" name="Shape 53"/>
            <p:cNvSpPr/>
            <p:nvPr/>
          </p:nvSpPr>
          <p:spPr>
            <a:xfrm>
              <a:off x="809244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8" name="Shape 54"/>
            <p:cNvSpPr/>
            <p:nvPr/>
          </p:nvSpPr>
          <p:spPr>
            <a:xfrm>
              <a:off x="822960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9" name="Shape 55"/>
            <p:cNvSpPr/>
            <p:nvPr/>
          </p:nvSpPr>
          <p:spPr>
            <a:xfrm>
              <a:off x="836676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60" name="Shape 56"/>
            <p:cNvSpPr/>
            <p:nvPr/>
          </p:nvSpPr>
          <p:spPr>
            <a:xfrm>
              <a:off x="868680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1" name="Shape 57"/>
            <p:cNvSpPr/>
            <p:nvPr/>
          </p:nvSpPr>
          <p:spPr>
            <a:xfrm>
              <a:off x="882396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2" name="Shape 58"/>
            <p:cNvSpPr/>
            <p:nvPr/>
          </p:nvSpPr>
          <p:spPr>
            <a:xfrm>
              <a:off x="896112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3" name="Shape 59"/>
            <p:cNvSpPr/>
            <p:nvPr/>
          </p:nvSpPr>
          <p:spPr>
            <a:xfrm>
              <a:off x="909828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4" name="Shape 60"/>
            <p:cNvSpPr/>
            <p:nvPr/>
          </p:nvSpPr>
          <p:spPr>
            <a:xfrm>
              <a:off x="923544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5" name="Text 61"/>
            <p:cNvSpPr/>
            <p:nvPr/>
          </p:nvSpPr>
          <p:spPr>
            <a:xfrm>
              <a:off x="6720840" y="489204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2459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whole strokes only</a:t>
              </a:r>
              <a:endParaRPr lang="en-US" sz="900" dirty="0"/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157DDFCE-0E11-34C0-194E-34B497C03B84}"/>
              </a:ext>
            </a:extLst>
          </p:cNvPr>
          <p:cNvGrpSpPr/>
          <p:nvPr/>
        </p:nvGrpSpPr>
        <p:grpSpPr>
          <a:xfrm>
            <a:off x="10088530" y="3794760"/>
            <a:ext cx="1751907" cy="1554480"/>
            <a:chOff x="9646920" y="3794760"/>
            <a:chExt cx="1463040" cy="1554480"/>
          </a:xfrm>
        </p:grpSpPr>
        <p:sp>
          <p:nvSpPr>
            <p:cNvPr id="66" name="Shape 62"/>
            <p:cNvSpPr/>
            <p:nvPr/>
          </p:nvSpPr>
          <p:spPr>
            <a:xfrm>
              <a:off x="9646920" y="3794760"/>
              <a:ext cx="1463040" cy="1554480"/>
            </a:xfrm>
            <a:prstGeom prst="roundRect">
              <a:avLst>
                <a:gd name="adj" fmla="val 5000"/>
              </a:avLst>
            </a:prstGeom>
            <a:solidFill>
              <a:srgbClr val="EAF4F6"/>
            </a:solidFill>
            <a:ln/>
          </p:spPr>
        </p:sp>
        <p:sp>
          <p:nvSpPr>
            <p:cNvPr id="67" name="Text 63"/>
            <p:cNvSpPr/>
            <p:nvPr/>
          </p:nvSpPr>
          <p:spPr>
            <a:xfrm>
              <a:off x="9646920" y="393192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0C8A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</a:t>
              </a:r>
              <a:endParaRPr lang="en-US" sz="1100" dirty="0"/>
            </a:p>
          </p:txBody>
        </p:sp>
        <p:sp>
          <p:nvSpPr>
            <p:cNvPr id="68" name="Shape 64"/>
            <p:cNvSpPr/>
            <p:nvPr/>
          </p:nvSpPr>
          <p:spPr>
            <a:xfrm>
              <a:off x="982980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69" name="Shape 65"/>
            <p:cNvSpPr/>
            <p:nvPr/>
          </p:nvSpPr>
          <p:spPr>
            <a:xfrm>
              <a:off x="992124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0" name="Shape 66"/>
            <p:cNvSpPr/>
            <p:nvPr/>
          </p:nvSpPr>
          <p:spPr>
            <a:xfrm>
              <a:off x="1001268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1" name="Shape 67"/>
            <p:cNvSpPr/>
            <p:nvPr/>
          </p:nvSpPr>
          <p:spPr>
            <a:xfrm>
              <a:off x="1010412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2" name="Shape 68"/>
            <p:cNvSpPr/>
            <p:nvPr/>
          </p:nvSpPr>
          <p:spPr>
            <a:xfrm>
              <a:off x="1019556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3" name="Shape 69"/>
            <p:cNvSpPr/>
            <p:nvPr/>
          </p:nvSpPr>
          <p:spPr>
            <a:xfrm>
              <a:off x="1039672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4" name="Shape 70"/>
            <p:cNvSpPr/>
            <p:nvPr/>
          </p:nvSpPr>
          <p:spPr>
            <a:xfrm>
              <a:off x="1048816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5" name="Shape 71"/>
            <p:cNvSpPr/>
            <p:nvPr/>
          </p:nvSpPr>
          <p:spPr>
            <a:xfrm>
              <a:off x="1057960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6" name="Shape 72"/>
            <p:cNvSpPr/>
            <p:nvPr/>
          </p:nvSpPr>
          <p:spPr>
            <a:xfrm>
              <a:off x="1067104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7" name="Shape 73"/>
            <p:cNvSpPr/>
            <p:nvPr/>
          </p:nvSpPr>
          <p:spPr>
            <a:xfrm>
              <a:off x="1076248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8" name="Text 74"/>
            <p:cNvSpPr/>
            <p:nvPr/>
          </p:nvSpPr>
          <p:spPr>
            <a:xfrm>
              <a:off x="9646920" y="489204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0C8A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held-out strokes</a:t>
              </a:r>
              <a:endParaRPr lang="en-US" sz="900" dirty="0"/>
            </a:p>
          </p:txBody>
        </p:sp>
      </p:grpSp>
      <p:sp>
        <p:nvSpPr>
          <p:cNvPr id="79" name="Shape 75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80" name="Text 76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81" name="Text 77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· 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baselines to beat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8600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classifier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baseline — always predicts the dominant GOOD class.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40156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81304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04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4041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(balanced) so the rare BAD strokes actually count during training.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783080"/>
            <a:ext cx="5925710" cy="4023360"/>
          </a:xfrm>
          <a:prstGeom prst="roundRect">
            <a:avLst>
              <a:gd name="adj" fmla="val 2273"/>
            </a:avLst>
          </a:prstGeom>
          <a:solidFill>
            <a:srgbClr val="12333D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19385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pic>
        <p:nvPicPr>
          <p:cNvPr id="16" name="Image 2" descr="../assets/imag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5079" y="2331720"/>
            <a:ext cx="5328159" cy="32918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· 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misleading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84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(majority)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412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412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6240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6240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GOOD for everything — BAD recall 0.00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087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8412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48412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6240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6240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349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separates the classes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5440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4" name="Image 0" descr="../assets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984248"/>
            <a:ext cx="4892040" cy="235915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080760" y="46634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98348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477316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score ~96% accuracy, but only the Random Forest moves ROC-AUC to 0.97 and Macro F1 to 0.82.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9" name="Text 25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Fail: Imbalanced Dataset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6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48056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C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 : 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09244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ratio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446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Strokes per class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68680" y="4023360"/>
          <a:ext cx="61264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315200" y="187452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2194560"/>
            <a:ext cx="685800" cy="685800"/>
          </a:xfrm>
          <a:prstGeom prst="ellipse">
            <a:avLst/>
          </a:prstGeom>
          <a:solidFill>
            <a:srgbClr val="EC9A1E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340864"/>
            <a:ext cx="393192" cy="3931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89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89520" y="3520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14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 is reachable by a model that 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predicts GOOD</a:t>
            </a:r>
            <a:r>
              <a:rPr lang="en-US" sz="14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while learning nothing about technique.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2" name="Text 18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Concern: Data Quality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214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12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five videos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dataset is very small.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41832" y="34930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844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 from only one source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low-quality stroke came from a single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5720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8646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560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Memorization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that one video instead of technique.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48006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95160" y="19933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Training a 3D-CNN</a:t>
            </a:r>
            <a:endParaRPr lang="en-US" sz="1300" dirty="0"/>
          </a:p>
        </p:txBody>
      </p:sp>
      <p:pic>
        <p:nvPicPr>
          <p:cNvPr id="21" name="Image 3" descr="../assets/cnn3d_training.png"/>
          <p:cNvPicPr>
            <a:picLocks noChangeAspect="1"/>
          </p:cNvPicPr>
          <p:nvPr/>
        </p:nvPicPr>
        <p:blipFill>
          <a:blip r:embed="rId6"/>
          <a:srcRect t="11351" r="49696"/>
          <a:stretch>
            <a:fillRect/>
          </a:stretch>
        </p:blipFill>
        <p:spPr>
          <a:xfrm>
            <a:off x="7386265" y="2285677"/>
            <a:ext cx="3469750" cy="195256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20840" y="4251960"/>
            <a:ext cx="4800600" cy="1371600"/>
          </a:xfrm>
          <a:prstGeom prst="roundRect">
            <a:avLst>
              <a:gd name="adj" fmla="val 6667"/>
            </a:avLst>
          </a:prstGeom>
          <a:solidFill>
            <a:srgbClr val="FBF1D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461772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26680" y="43891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3D-CNN's training documentation confirms these concerns — strong train/validation divergence points to memorization.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6" name="Text 19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Concern: Data Quality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214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12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five videos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dataset is very small.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41832" y="34930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844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 from one source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low-quality stroke came from a single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5720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8646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560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Memorization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may learn that one video instead of technique.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4800600" cy="3931920"/>
          </a:xfrm>
          <a:prstGeom prst="roundRect">
            <a:avLst>
              <a:gd name="adj" fmla="val 2326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2148840"/>
            <a:ext cx="731520" cy="73152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331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22402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solution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086600" y="30632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Steadily extend the dataset — record more sessions, leaving out bad strokes to stabilise the GOOD class.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7086600" y="4343400"/>
            <a:ext cx="4069080" cy="0"/>
          </a:xfrm>
          <a:prstGeom prst="line">
            <a:avLst/>
          </a:prstGeom>
          <a:noFill/>
          <a:ln w="12700">
            <a:solidFill>
              <a:srgbClr val="2A4E5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086600" y="4480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so far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086600" y="4800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 videos  ·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strokes  ·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frames without a pose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self-recorded videos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378440" cy="34747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Orig. fps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Red. fps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Orig.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Red.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A331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sim-GOOD-slow2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1124.1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33 723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11 244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89504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0" name="Text 7"/>
          <p:cNvSpPr/>
          <p:nvPr/>
        </p:nvSpPr>
        <p:spPr>
          <a:xfrm>
            <a:off x="2889504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≈18.7 min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89504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93208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3" name="Text 10"/>
          <p:cNvSpPr/>
          <p:nvPr/>
        </p:nvSpPr>
        <p:spPr>
          <a:xfrm>
            <a:off x="5093208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93208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96912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6" name="Text 13"/>
          <p:cNvSpPr/>
          <p:nvPr/>
        </p:nvSpPr>
        <p:spPr>
          <a:xfrm>
            <a:off x="7296912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11 244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96912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frames</a:t>
            </a:r>
            <a:endParaRPr lang="en-US" sz="1000" dirty="0"/>
          </a:p>
        </p:txBody>
      </p:sp>
      <p:sp>
        <p:nvSpPr>
          <p:cNvPr id="5" name="Shape 15"/>
          <p:cNvSpPr/>
          <p:nvPr/>
        </p:nvSpPr>
        <p:spPr>
          <a:xfrm>
            <a:off x="9500616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9" name="Text 16"/>
          <p:cNvSpPr/>
          <p:nvPr/>
        </p:nvSpPr>
        <p:spPr>
          <a:xfrm>
            <a:off x="9500616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00616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no-pose frames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Autoencoder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detection.  </a:t>
            </a:r>
            <a:r>
              <a:rPr lang="en-US" sz="13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only on good strokes, the model reconstructs correct technique well — faulty strokes reconstruct poorly and stand out by a high error.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8716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786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good strokes only — learn to reconstruct correct technique.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547872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84048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3192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730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737360" y="4096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sequences, not single frames (window 24, stride 12).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901184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5193792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8523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0840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5449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from the training MSE; strokes whose error exceeds it are flagged BAD.</a:t>
            </a:r>
            <a:endParaRPr lang="en-US" sz="125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D056346-DA71-3F16-2A54-B27382D5ED81}"/>
              </a:ext>
            </a:extLst>
          </p:cNvPr>
          <p:cNvGrpSpPr/>
          <p:nvPr/>
        </p:nvGrpSpPr>
        <p:grpSpPr>
          <a:xfrm>
            <a:off x="6812280" y="2194560"/>
            <a:ext cx="5214068" cy="3913632"/>
            <a:chOff x="6812280" y="2194560"/>
            <a:chExt cx="4709160" cy="3566160"/>
          </a:xfrm>
        </p:grpSpPr>
        <p:sp>
          <p:nvSpPr>
            <p:cNvPr id="20" name="Shape 15"/>
            <p:cNvSpPr/>
            <p:nvPr/>
          </p:nvSpPr>
          <p:spPr>
            <a:xfrm>
              <a:off x="6812280" y="2194560"/>
              <a:ext cx="4709160" cy="3566160"/>
            </a:xfrm>
            <a:prstGeom prst="roundRect">
              <a:avLst>
                <a:gd name="adj" fmla="val 2564"/>
              </a:avLst>
            </a:prstGeom>
            <a:solidFill>
              <a:srgbClr val="12333D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21" name="Text 16"/>
            <p:cNvSpPr/>
            <p:nvPr/>
          </p:nvSpPr>
          <p:spPr>
            <a:xfrm>
              <a:off x="7086600" y="2331720"/>
              <a:ext cx="4160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00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LSTM Autoencoder  ·  Implementation</a:t>
              </a:r>
              <a:endParaRPr lang="en-US" sz="1100" dirty="0"/>
            </a:p>
          </p:txBody>
        </p:sp>
        <p:pic>
          <p:nvPicPr>
            <p:cNvPr id="22" name="Image 3" descr="../assets/lstm_code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086600" y="2697480"/>
              <a:ext cx="4160520" cy="2926080"/>
            </a:xfrm>
            <a:prstGeom prst="rect">
              <a:avLst/>
            </a:prstGeom>
          </p:spPr>
        </p:pic>
      </p:grpSp>
      <p:sp>
        <p:nvSpPr>
          <p:cNvPr id="23" name="Shape 17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APPROACH  · 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autoencoder results</a:t>
            </a:r>
            <a:endParaRPr lang="en-US" sz="3300" dirty="0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36D2F4C-4EDB-A8C4-75E2-5ABD8D42FAEA}"/>
              </a:ext>
            </a:extLst>
          </p:cNvPr>
          <p:cNvGrpSpPr/>
          <p:nvPr/>
        </p:nvGrpSpPr>
        <p:grpSpPr>
          <a:xfrm>
            <a:off x="685800" y="1311965"/>
            <a:ext cx="5989320" cy="2345635"/>
            <a:chOff x="685800" y="1783080"/>
            <a:chExt cx="5989320" cy="1874520"/>
          </a:xfrm>
        </p:grpSpPr>
        <p:sp>
          <p:nvSpPr>
            <p:cNvPr id="4" name="Shape 2"/>
            <p:cNvSpPr/>
            <p:nvPr/>
          </p:nvSpPr>
          <p:spPr>
            <a:xfrm>
              <a:off x="685800" y="1783080"/>
              <a:ext cx="5989320" cy="187452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60120" y="1901952"/>
              <a:ext cx="5440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Training &amp; validation loss</a:t>
              </a:r>
              <a:endParaRPr lang="en-US" sz="1150" dirty="0"/>
            </a:p>
          </p:txBody>
        </p:sp>
        <p:pic>
          <p:nvPicPr>
            <p:cNvPr id="6" name="Image 0" descr="../assets/lstm_loss.png"/>
            <p:cNvPicPr>
              <a:picLocks noChangeAspect="1"/>
            </p:cNvPicPr>
            <p:nvPr/>
          </p:nvPicPr>
          <p:blipFill>
            <a:blip r:embed="rId3"/>
            <a:srcRect t="6207"/>
            <a:stretch>
              <a:fillRect/>
            </a:stretch>
          </p:blipFill>
          <p:spPr>
            <a:xfrm>
              <a:off x="1005840" y="2295144"/>
              <a:ext cx="5349240" cy="1243584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0A3BD9A1-6EB3-3DD1-AEA7-66A4637EF7BC}"/>
              </a:ext>
            </a:extLst>
          </p:cNvPr>
          <p:cNvGrpSpPr/>
          <p:nvPr/>
        </p:nvGrpSpPr>
        <p:grpSpPr>
          <a:xfrm>
            <a:off x="685800" y="3840480"/>
            <a:ext cx="5989320" cy="2267712"/>
            <a:chOff x="685800" y="3840480"/>
            <a:chExt cx="5989320" cy="1828800"/>
          </a:xfrm>
        </p:grpSpPr>
        <p:sp>
          <p:nvSpPr>
            <p:cNvPr id="7" name="Shape 4"/>
            <p:cNvSpPr/>
            <p:nvPr/>
          </p:nvSpPr>
          <p:spPr>
            <a:xfrm>
              <a:off x="685800" y="3840480"/>
              <a:ext cx="598932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8" name="Text 5"/>
            <p:cNvSpPr/>
            <p:nvPr/>
          </p:nvSpPr>
          <p:spPr>
            <a:xfrm>
              <a:off x="960120" y="3950208"/>
              <a:ext cx="5440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Confusion matrix &amp; ROC curve</a:t>
              </a:r>
              <a:endParaRPr lang="en-US" sz="1150" dirty="0"/>
            </a:p>
          </p:txBody>
        </p:sp>
        <p:pic>
          <p:nvPicPr>
            <p:cNvPr id="9" name="Image 1" descr="../assets/lstm_confroc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05840" y="4251960"/>
              <a:ext cx="5349240" cy="1325880"/>
            </a:xfrm>
            <a:prstGeom prst="rect">
              <a:avLst/>
            </a:prstGeom>
          </p:spPr>
        </p:pic>
      </p:grpSp>
      <p:sp>
        <p:nvSpPr>
          <p:cNvPr id="10" name="Shape 6"/>
          <p:cNvSpPr/>
          <p:nvPr/>
        </p:nvSpPr>
        <p:spPr>
          <a:xfrm>
            <a:off x="6903720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03720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6903720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497824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497824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C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8497824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091928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091928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10091928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903720" y="3017520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78040" y="3310128"/>
            <a:ext cx="548640" cy="548640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341985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09560" y="3182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909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909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9052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052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0195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0195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903720" y="4352544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FBEAE8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178040" y="4645152"/>
            <a:ext cx="548640" cy="548640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75488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909560" y="4517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7909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909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052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052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10195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10195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903720" y="553212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5779008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680960" y="56052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 are caught well; bad strokes stay hard (recall 0.39) — more varied bad examples are needed.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43" name="Text 36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141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so far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MediaPipe → features → model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across angles &amp; body proportions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segmentation and leak-free, stroke-aware split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baseline — Random Forest at Macro F1 0.82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autoencoder built and evaluated (ROC-AUC 0.67)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extended to 8 videos incl. first bad-technique clip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9202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0E374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86000"/>
            <a:ext cx="50292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29400" y="28803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more &amp; more varied BAD strokes (rowers, error types)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bad-stroke recall beyond 0.39 — tune threshold &amp; window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the autoencoder against the RF baseline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rgbClr val="E4F0F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8000"/>
              </a:lnSpc>
              <a:spcAft>
                <a:spcPts val="800"/>
              </a:spcAft>
              <a:buSzPct val="100000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Day:</a:t>
            </a:r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Per-phase feedback on catch and finish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2633</Words>
  <Application>Microsoft Macintosh PowerPoint</Application>
  <PresentationFormat>Breitbild</PresentationFormat>
  <Paragraphs>474</Paragraphs>
  <Slides>21</Slides>
  <Notes>21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Rowing Technique on an Ergometer</dc:title>
  <dc:subject>PptxGenJS Presentation</dc:subject>
  <dc:creator>Lukas</dc:creator>
  <cp:lastModifiedBy>cbrilke@posteo.de</cp:lastModifiedBy>
  <cp:revision>7</cp:revision>
  <dcterms:created xsi:type="dcterms:W3CDTF">2026-06-25T10:52:31Z</dcterms:created>
  <dcterms:modified xsi:type="dcterms:W3CDTF">2026-06-25T14:09:42Z</dcterms:modified>
</cp:coreProperties>
</file>