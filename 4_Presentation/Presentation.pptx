
<file path=[Content_Types].xml><?xml version="1.0" encoding="utf-8"?>
<Types xmlns="http://schemas.openxmlformats.org/package/2006/content-types"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6" r:id="rId13"/>
    <p:sldId id="268" r:id="rId14"/>
    <p:sldId id="269" r:id="rId15"/>
    <p:sldId id="267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69195"/>
  </p:normalViewPr>
  <p:slideViewPr>
    <p:cSldViewPr snapToGrid="0" snapToObjects="1">
      <p:cViewPr>
        <p:scale>
          <a:sx n="82" d="100"/>
          <a:sy n="82" d="100"/>
        </p:scale>
        <p:origin x="51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Strokes</c:v>
                </c:pt>
              </c:strCache>
            </c:strRef>
          </c:tx>
          <c:spPr>
            <a:solidFill>
              <a:srgbClr val="1E9E5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98C-C041-8301-D8000EAEF924}"/>
              </c:ext>
            </c:extLst>
          </c:dPt>
          <c:dPt>
            <c:idx val="1"/>
            <c:invertIfNegative val="0"/>
            <c:bubble3D val="0"/>
            <c:spPr>
              <a:solidFill>
                <a:srgbClr val="D645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8C-C041-8301-D8000EAEF92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3242C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GOOD</c:v>
                </c:pt>
                <c:pt idx="1">
                  <c:v>BAD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355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98C-C041-8301-D8000EAEF9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5E7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2212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Introduce yourself and the topic: judging rowing technique on an ergometer.</a:t>
            </a:r>
          </a:p>
          <a:p>
            <a:r>
              <a:rPr lang="en-US" dirty="0"/>
              <a:t>- Hook: *Can we rate every single stroke automatically — from nothing but a video?*</a:t>
            </a:r>
          </a:p>
          <a:p>
            <a:r>
              <a:rPr lang="en-US" dirty="0"/>
              <a:t>- The idea combines </a:t>
            </a:r>
            <a:r>
              <a:rPr lang="en-US" dirty="0" err="1"/>
              <a:t>MediaPipe</a:t>
            </a:r>
            <a:r>
              <a:rPr lang="en-US" dirty="0"/>
              <a:t> pose estimation with a custom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Goal: a model that evaluates stroke quality automatically, after every stroke.</a:t>
            </a:r>
          </a:p>
          <a:p>
            <a:r>
              <a:rPr lang="en-US" dirty="0"/>
              <a:t>- It's a **binary** task: good stroke vs. failed stroke.</a:t>
            </a:r>
          </a:p>
          <a:p>
            <a:r>
              <a:rPr lang="en-US" dirty="0"/>
              <a:t>- Three target properties: per-stroke, video-only (no wearables), real-time-capable.</a:t>
            </a:r>
          </a:p>
          <a:p>
            <a:r>
              <a:rPr lang="en-US" dirty="0"/>
              <a:t>- A working pipeline, normalization, a leak-free split and first baselines are already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Quick roadmap so the audience knows where we're going.</a:t>
            </a:r>
          </a:p>
          <a:p>
            <a:r>
              <a:rPr lang="en-US" dirty="0"/>
              <a:t>- Motivation → related work → approach &amp; pipeline → data → the imbalance problem → baselines → the autoencoder →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Today, technique feedback depends on experienced coaches.</a:t>
            </a:r>
          </a:p>
          <a:p>
            <a:r>
              <a:rPr lang="en-US" dirty="0"/>
              <a:t>- That's manual, subjective, time-consuming and doesn't scale.</a:t>
            </a:r>
          </a:p>
          <a:p>
            <a:r>
              <a:rPr lang="en-US" dirty="0"/>
              <a:t>- The idea: automatic feedback straight from ergometer video, so every athlete can get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Used wearable inertial sensors to </a:t>
            </a:r>
            <a:r>
              <a:rPr lang="en-US" dirty="0" err="1"/>
              <a:t>analyse</a:t>
            </a:r>
            <a:r>
              <a:rPr lang="en-US" dirty="0"/>
              <a:t> indoor rowing motion.</a:t>
            </a:r>
          </a:p>
          <a:p>
            <a:r>
              <a:rPr lang="en-US" dirty="0"/>
              <a:t>- Strength: accurate motion capture.</a:t>
            </a:r>
          </a:p>
          <a:p>
            <a:r>
              <a:rPr lang="en-US" dirty="0"/>
              <a:t>- Limitation: the athlete has to wear on-body sensors every session.</a:t>
            </a:r>
          </a:p>
          <a:p>
            <a:r>
              <a:rPr lang="en-US" dirty="0"/>
              <a:t>- My approach avoids that — a camera is all that's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Pose-based deep learning: yoga-pose classification with a CNN + </a:t>
            </a:r>
            <a:r>
              <a:rPr lang="en-US" dirty="0" err="1"/>
              <a:t>MediaPipe</a:t>
            </a:r>
            <a:r>
              <a:rPr lang="en-US" dirty="0"/>
              <a:t>.</a:t>
            </a:r>
          </a:p>
          <a:p>
            <a:r>
              <a:rPr lang="en-US" dirty="0"/>
              <a:t>- Shows that pose landmarks plus a CNN work well for classifying human movement.</a:t>
            </a:r>
          </a:p>
          <a:p>
            <a:r>
              <a:rPr lang="en-US" dirty="0"/>
              <a:t>- That's the inspiration for my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Three steps: pose extraction (</a:t>
            </a:r>
            <a:r>
              <a:rPr lang="en-US" dirty="0" err="1"/>
              <a:t>MediaPipe</a:t>
            </a:r>
            <a:r>
              <a:rPr lang="en-US" dirty="0"/>
              <a:t>) → custom CNN on the landmark sequences → binary classification.</a:t>
            </a:r>
          </a:p>
          <a:p>
            <a:r>
              <a:rPr lang="en-US" dirty="0"/>
              <a:t>- The two clips show an example good stroke vs. a bad stroke as skeleton overlays.</a:t>
            </a:r>
          </a:p>
          <a:p>
            <a:r>
              <a:rPr lang="en-US" dirty="0"/>
              <a:t>- Everything comes from the video — no extra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Extract </a:t>
            </a:r>
            <a:r>
              <a:rPr lang="en-US" dirty="0" err="1"/>
              <a:t>MediaPipe</a:t>
            </a:r>
            <a:r>
              <a:rPr lang="en-US" dirty="0"/>
              <a:t> landmarks per frame, stored as CSV — 69 features per frame.</a:t>
            </a:r>
          </a:p>
          <a:p>
            <a:r>
              <a:rPr lang="en-US" dirty="0"/>
              <a:t>- </a:t>
            </a:r>
            <a:r>
              <a:rPr lang="en-US" dirty="0" err="1"/>
              <a:t>Downsample</a:t>
            </a:r>
            <a:r>
              <a:rPr lang="en-US" dirty="0"/>
              <a:t> 30 → 10 fps: removes redundancy while keeping the motion.</a:t>
            </a:r>
          </a:p>
          <a:p>
            <a:r>
              <a:rPr lang="en-US" dirty="0"/>
              <a:t>- Normalize so videos from different angles and bodies become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Why: recordings differ in camera angle and in the rower's body proportions.</a:t>
            </a:r>
          </a:p>
          <a:p>
            <a:r>
              <a:rPr lang="en-US" dirty="0"/>
              <a:t>- So raw coordinates aren't comparable across videos.</a:t>
            </a:r>
          </a:p>
          <a:p>
            <a:r>
              <a:rPr lang="en-US" dirty="0"/>
              <a:t>- After normalization the same stroke looks the same, regardless of camera or athlete.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Goal: count strokes and locate the motion phases — catch and finish.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B9B70-8528-A373-DD41-F1437F07F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009CB9-6C44-02A0-738E-52DA1B3DC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38B1F-69F3-D7F4-8193-5235F8ABE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rowing</a:t>
            </a:r>
            <a:r>
              <a:rPr lang="de-DE" dirty="0"/>
              <a:t> </a:t>
            </a:r>
            <a:r>
              <a:rPr lang="de-DE" dirty="0" err="1"/>
              <a:t>stroke</a:t>
            </a:r>
            <a:r>
              <a:rPr lang="de-DE" dirty="0"/>
              <a:t> </a:t>
            </a:r>
            <a:r>
              <a:rPr lang="de-DE" dirty="0" err="1"/>
              <a:t>moves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extremes. </a:t>
            </a:r>
          </a:p>
          <a:p>
            <a:endParaRPr lang="de-DE" dirty="0"/>
          </a:p>
          <a:p>
            <a:r>
              <a:rPr lang="de-DE" dirty="0"/>
              <a:t>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b="1" dirty="0"/>
              <a:t>catch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rower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fully </a:t>
            </a:r>
            <a:r>
              <a:rPr lang="de-DE" dirty="0" err="1"/>
              <a:t>compressed</a:t>
            </a:r>
            <a:r>
              <a:rPr lang="de-DE" dirty="0"/>
              <a:t> — </a:t>
            </a:r>
            <a:r>
              <a:rPr lang="de-DE" dirty="0" err="1"/>
              <a:t>hands</a:t>
            </a:r>
            <a:r>
              <a:rPr lang="de-DE" dirty="0"/>
              <a:t> and </a:t>
            </a:r>
            <a:r>
              <a:rPr lang="de-DE" dirty="0" err="1"/>
              <a:t>hips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far</a:t>
            </a:r>
            <a:r>
              <a:rPr lang="de-DE" dirty="0"/>
              <a:t> </a:t>
            </a:r>
            <a:r>
              <a:rPr lang="de-DE" i="1" dirty="0" err="1"/>
              <a:t>forward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. </a:t>
            </a:r>
          </a:p>
          <a:p>
            <a:r>
              <a:rPr lang="de-DE" dirty="0"/>
              <a:t>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b="1" dirty="0"/>
              <a:t>finish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rower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fully </a:t>
            </a:r>
            <a:r>
              <a:rPr lang="de-DE" dirty="0" err="1"/>
              <a:t>extended</a:t>
            </a:r>
            <a:r>
              <a:rPr lang="de-DE" dirty="0"/>
              <a:t> — </a:t>
            </a:r>
            <a:r>
              <a:rPr lang="de-DE" dirty="0" err="1"/>
              <a:t>hands</a:t>
            </a:r>
            <a:r>
              <a:rPr lang="de-DE" dirty="0"/>
              <a:t> and </a:t>
            </a:r>
            <a:r>
              <a:rPr lang="de-DE" dirty="0" err="1"/>
              <a:t>hips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far</a:t>
            </a:r>
            <a:r>
              <a:rPr lang="de-DE" dirty="0"/>
              <a:t> </a:t>
            </a:r>
            <a:r>
              <a:rPr lang="de-DE" i="1" dirty="0"/>
              <a:t>back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. Every </a:t>
            </a:r>
            <a:r>
              <a:rPr lang="de-DE" dirty="0" err="1"/>
              <a:t>stroke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simply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swing </a:t>
            </a:r>
            <a:r>
              <a:rPr lang="de-DE" dirty="0" err="1"/>
              <a:t>from</a:t>
            </a:r>
            <a:r>
              <a:rPr lang="de-DE" dirty="0"/>
              <a:t> catch </a:t>
            </a:r>
            <a:r>
              <a:rPr lang="de-DE" dirty="0" err="1"/>
              <a:t>to</a:t>
            </a:r>
            <a:r>
              <a:rPr lang="de-DE" dirty="0"/>
              <a:t> finish and back.</a:t>
            </a:r>
          </a:p>
          <a:p>
            <a:endParaRPr lang="de-DE" dirty="0"/>
          </a:p>
          <a:p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gives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a clean </a:t>
            </a:r>
            <a:r>
              <a:rPr lang="de-DE" dirty="0" err="1"/>
              <a:t>signal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: </a:t>
            </a:r>
            <a:r>
              <a:rPr lang="de-DE" dirty="0" err="1"/>
              <a:t>we</a:t>
            </a:r>
            <a:r>
              <a:rPr lang="de-DE" dirty="0"/>
              <a:t> track </a:t>
            </a:r>
            <a:r>
              <a:rPr lang="de-DE" dirty="0" err="1"/>
              <a:t>the</a:t>
            </a:r>
            <a:r>
              <a:rPr lang="de-DE" dirty="0"/>
              <a:t> horizontal </a:t>
            </a:r>
            <a:r>
              <a:rPr lang="de-DE" dirty="0" err="1"/>
              <a:t>position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hands</a:t>
            </a:r>
            <a:r>
              <a:rPr lang="de-DE" dirty="0"/>
              <a:t> and </a:t>
            </a:r>
            <a:r>
              <a:rPr lang="de-DE" dirty="0" err="1"/>
              <a:t>hips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time, and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rises</a:t>
            </a:r>
            <a:r>
              <a:rPr lang="de-DE" dirty="0"/>
              <a:t> and falls like a </a:t>
            </a:r>
            <a:r>
              <a:rPr lang="de-DE" dirty="0" err="1"/>
              <a:t>wave</a:t>
            </a:r>
            <a:r>
              <a:rPr lang="de-DE" dirty="0"/>
              <a:t> —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full</a:t>
            </a:r>
            <a:r>
              <a:rPr lang="de-DE" dirty="0"/>
              <a:t> </a:t>
            </a:r>
            <a:r>
              <a:rPr lang="de-DE" dirty="0" err="1"/>
              <a:t>cycle</a:t>
            </a:r>
            <a:r>
              <a:rPr lang="de-DE" dirty="0"/>
              <a:t> per </a:t>
            </a:r>
            <a:r>
              <a:rPr lang="de-DE" dirty="0" err="1"/>
              <a:t>stroke</a:t>
            </a:r>
            <a:r>
              <a:rPr lang="de-DE" dirty="0"/>
              <a:t>. By </a:t>
            </a:r>
            <a:r>
              <a:rPr lang="de-DE" dirty="0" err="1"/>
              <a:t>detecting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peaks</a:t>
            </a:r>
            <a:r>
              <a:rPr lang="de-DE" dirty="0"/>
              <a:t> (finish) and </a:t>
            </a:r>
            <a:r>
              <a:rPr lang="de-DE" dirty="0" err="1"/>
              <a:t>troughs</a:t>
            </a:r>
            <a:r>
              <a:rPr lang="de-DE" dirty="0"/>
              <a:t> (catch)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curve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mark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stroke</a:t>
            </a:r>
            <a:r>
              <a:rPr lang="de-DE" dirty="0"/>
              <a:t> </a:t>
            </a:r>
            <a:r>
              <a:rPr lang="de-DE" dirty="0" err="1"/>
              <a:t>begins</a:t>
            </a:r>
            <a:r>
              <a:rPr lang="de-DE" dirty="0"/>
              <a:t> and </a:t>
            </a:r>
            <a:r>
              <a:rPr lang="de-DE" dirty="0" err="1"/>
              <a:t>ends</a:t>
            </a:r>
            <a:r>
              <a:rPr lang="de-DE" dirty="0"/>
              <a:t>. </a:t>
            </a:r>
            <a:r>
              <a:rPr lang="de-DE" dirty="0" err="1"/>
              <a:t>Counting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cycles</a:t>
            </a:r>
            <a:r>
              <a:rPr lang="de-DE" dirty="0"/>
              <a:t> </a:t>
            </a:r>
            <a:r>
              <a:rPr lang="de-DE" dirty="0" err="1"/>
              <a:t>tells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strokes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,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peaks</a:t>
            </a:r>
            <a:r>
              <a:rPr lang="de-DE" dirty="0"/>
              <a:t> and </a:t>
            </a:r>
            <a:r>
              <a:rPr lang="de-DE" dirty="0" err="1"/>
              <a:t>troughs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locate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catch and finish </a:t>
            </a:r>
            <a:r>
              <a:rPr lang="de-DE" dirty="0" err="1"/>
              <a:t>phases</a:t>
            </a:r>
            <a:r>
              <a:rPr lang="de-DE" dirty="0"/>
              <a:t> </a:t>
            </a:r>
            <a:r>
              <a:rPr lang="de-DE" dirty="0" err="1"/>
              <a:t>within</a:t>
            </a:r>
            <a:r>
              <a:rPr lang="de-DE" dirty="0"/>
              <a:t>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stroke</a:t>
            </a:r>
            <a:r>
              <a:rPr lang="de-DE" dirty="0"/>
              <a:t>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2C6A8-898F-A62B-3D51-776DB52567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40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 random split leaks data: frames of one stroke end up in both train and test → inflated scores.</a:t>
            </a:r>
          </a:p>
          <a:p>
            <a:r>
              <a:rPr lang="en-US" dirty="0"/>
              <a:t>- Instead, split by **stroke**, not by frame.</a:t>
            </a:r>
          </a:p>
          <a:p>
            <a:r>
              <a:rPr lang="en-US" dirty="0"/>
              <a:t>- Whole strokes go entirely to train or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Dummy classifier: always predicts the majority (GOOD) — sets the floor.</a:t>
            </a:r>
          </a:p>
          <a:p>
            <a:r>
              <a:rPr lang="en-US" dirty="0"/>
              <a:t>- Random Forest: class-weighted (balanced) so the rare BAD strokes actually count in training.</a:t>
            </a:r>
          </a:p>
          <a:p>
            <a:r>
              <a:rPr lang="en-US" dirty="0"/>
              <a:t>- Both give us something concrete to 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Dummy classifier: by always predicting GOOD it makes **zero false positives but misses every bad stroke** — BAD recall 0.00. Its whole error sits in the rare, important class.</a:t>
            </a:r>
          </a:p>
          <a:p>
            <a:r>
              <a:rPr lang="en-US" dirty="0"/>
              <a:t>- That's why its 95% accuracy is misleading: with ~17:1 imbalance, getting the rare class completely wrong barely moves accuracy.</a:t>
            </a:r>
          </a:p>
          <a:p>
            <a:r>
              <a:rPr lang="en-US" dirty="0"/>
              <a:t>This is why Macro F1 0.49 is important here; weights both classes equally, so bad-class errors count</a:t>
            </a:r>
          </a:p>
          <a:p>
            <a:endParaRPr lang="en-US" dirty="0"/>
          </a:p>
          <a:p>
            <a:r>
              <a:rPr lang="en-US" dirty="0"/>
              <a:t>- Random Forest: catches most bad strokes (far fewer false negatives), at the cost of a few false positives on good strokes — a useful trade-off.</a:t>
            </a:r>
          </a:p>
          <a:p>
            <a:r>
              <a:rPr lang="en-US" dirty="0"/>
              <a:t>- The better metrics capture this: ROC-AUC rises to 0.97 (ranks bad above good across all thresholds) and Macro F1 to 0.82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dataset is heavily imbalanced: 355 good vs. 21 bad strokes — about 17 : 1.</a:t>
            </a:r>
          </a:p>
          <a:p>
            <a:r>
              <a:rPr lang="en-US" dirty="0"/>
              <a:t>- The problem: 95% accuracy is reachable by always predicting GOOD — while learning nothing about technique.</a:t>
            </a:r>
          </a:p>
          <a:p>
            <a:r>
              <a:rPr lang="en-US" dirty="0"/>
              <a:t>- So accuracy on its own is the wrong yardstick.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main risk is data quality: only five videos, and every bad stroke came from a single source.</a:t>
            </a:r>
          </a:p>
          <a:p>
            <a:r>
              <a:rPr lang="en-US" dirty="0"/>
              <a:t>- So the model may memorize that one video instead of learning technique.</a:t>
            </a:r>
          </a:p>
          <a:p>
            <a:r>
              <a:rPr lang="en-US" dirty="0"/>
              <a:t>- The 3D-CNN training documentation backs this up — strong train/validation divergence points to memorization.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Solution: steadily extend the dataset — record more sessions, first leaving out bad strokes to </a:t>
            </a:r>
            <a:r>
              <a:rPr lang="en-US" dirty="0" err="1"/>
              <a:t>stabilise</a:t>
            </a:r>
            <a:r>
              <a:rPr lang="en-US" dirty="0"/>
              <a:t> the GOOD class.</a:t>
            </a:r>
          </a:p>
          <a:p>
            <a:r>
              <a:rPr lang="en-US" dirty="0"/>
              <a:t>- Result so far: 7 clean videos · 405 strokes · 0 frames without a 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dataset now has 8 self-recorded videos — including the first bad-technique clip (21 bad strokes).</a:t>
            </a:r>
          </a:p>
          <a:p>
            <a:r>
              <a:rPr lang="en-US" dirty="0"/>
              <a:t>- Totals: ≈18.7 min, 426 strokes, 11,244 reduced frames, 0 frames without a pose.</a:t>
            </a:r>
          </a:p>
          <a:p>
            <a:r>
              <a:rPr lang="en-US" dirty="0"/>
              <a:t>- A first step towards a balanced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New approach: anomaly detection.</a:t>
            </a:r>
          </a:p>
          <a:p>
            <a:pPr marL="171450" indent="-171450">
              <a:buFontTx/>
              <a:buChar char="-"/>
            </a:pPr>
            <a:r>
              <a:rPr lang="en-US" dirty="0"/>
              <a:t>Train the autoencoder on **good strokes only** — it reconstructs correct technique well;</a:t>
            </a:r>
          </a:p>
          <a:p>
            <a:pPr marL="171450" indent="-171450">
              <a:buFontTx/>
              <a:buChar char="-"/>
            </a:pPr>
            <a:r>
              <a:rPr lang="en-US" dirty="0"/>
              <a:t>faulty strokes are expected to be reconstructed poorly; consequently they should be flagged as BAD.</a:t>
            </a:r>
          </a:p>
          <a:p>
            <a:r>
              <a:rPr lang="en-US" dirty="0"/>
              <a:t>- Works on sequences with sliding windows (window 24, stride 12), not single frames.</a:t>
            </a:r>
          </a:p>
          <a:p>
            <a:r>
              <a:rPr lang="en-US" dirty="0"/>
              <a:t>- Threshold from the training MSE (~95th percentile): if a stroke's reconstruction error exceeds it, flag it BAD.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Good strokes are detected well (F1 0.91); bad strokes stay hard (recall 0.39, F1 0.47).</a:t>
            </a:r>
          </a:p>
          <a:p>
            <a:r>
              <a:rPr lang="en-US" dirty="0"/>
              <a:t>- Promising, but the model needs more — and more varied — bad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3.png"/><Relationship Id="rId3" Type="http://schemas.microsoft.com/office/2007/relationships/media" Target="../media/media2.mp4"/><Relationship Id="rId7" Type="http://schemas.openxmlformats.org/officeDocument/2006/relationships/image" Target="../media/image18.png"/><Relationship Id="rId12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7.xml"/><Relationship Id="rId11" Type="http://schemas.openxmlformats.org/officeDocument/2006/relationships/image" Target="../media/image22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21.png"/><Relationship Id="rId4" Type="http://schemas.openxmlformats.org/officeDocument/2006/relationships/video" Target="../media/media2.mp4"/><Relationship Id="rId9" Type="http://schemas.openxmlformats.org/officeDocument/2006/relationships/image" Target="../media/image20.png"/><Relationship Id="rId1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027">
              <a:alpha val="6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B2027">
              <a:alpha val="63186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MACHINE LEARNING | OPENCAMPUS.SH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6812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Rowing Motion Analysis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77240" y="4114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CEA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Stroke-by-stroke quality evaluation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0" cy="384048"/>
          </a:xfrm>
          <a:prstGeom prst="line">
            <a:avLst/>
          </a:prstGeom>
          <a:noFill/>
          <a:ln w="38100">
            <a:solidFill>
              <a:srgbClr val="0FB5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029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Clara Brilke</a:t>
            </a:r>
            <a:r>
              <a:rPr lang="en-US" sz="1500" dirty="0">
                <a:solidFill>
                  <a:srgbClr val="BFD4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25 June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70408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03120"/>
            <a:ext cx="777240" cy="777240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221992"/>
            <a:ext cx="539496" cy="5394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06324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 model that evaluates stroke quality on a rowing ergometer — automatically, after every single stroke.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8001000" y="178308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57032" y="2057400"/>
            <a:ext cx="548640" cy="548640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21488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0" y="19842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Per-stroke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961120" y="23500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at the granularity of one rowing stroke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01000" y="3273552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57032" y="3547872"/>
            <a:ext cx="548640" cy="548640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363931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61120" y="3474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Video-only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96112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wearables or on-body sensors required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01000" y="4764024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57032" y="5038344"/>
            <a:ext cx="548640" cy="548640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5129784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61120" y="4965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Real-time-capable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961120" y="53309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score strokes as they happen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85800" y="4297680"/>
            <a:ext cx="7040880" cy="1417320"/>
          </a:xfrm>
          <a:prstGeom prst="roundRect">
            <a:avLst>
              <a:gd name="adj" fmla="val 6452"/>
            </a:avLst>
          </a:prstGeom>
          <a:solidFill>
            <a:srgbClr val="0E3744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1005840" y="4498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so far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05840" y="482803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task — </a:t>
            </a:r>
            <a:r>
              <a:rPr lang="en-US" sz="13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stroke vs. failed stroke. A working pipeline, normalization, a leak-free split and first baselines are already in place.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7" name="Text 21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talk covers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12064" cy="512064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80" dirty="0"/>
          </a:p>
        </p:txBody>
      </p:sp>
      <p:sp>
        <p:nvSpPr>
          <p:cNvPr id="6" name="Text 4"/>
          <p:cNvSpPr/>
          <p:nvPr/>
        </p:nvSpPr>
        <p:spPr>
          <a:xfrm>
            <a:off x="1399032" y="17830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99032" y="21488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automate stroke assessment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907792"/>
            <a:ext cx="512064" cy="512064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907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80" dirty="0"/>
          </a:p>
        </p:txBody>
      </p:sp>
      <p:sp>
        <p:nvSpPr>
          <p:cNvPr id="10" name="Text 8"/>
          <p:cNvSpPr/>
          <p:nvPr/>
        </p:nvSpPr>
        <p:spPr>
          <a:xfrm>
            <a:off x="1399032" y="28620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99032" y="32278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Sensor- and pose-based approaches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986784"/>
            <a:ext cx="512064" cy="512064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986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1399032" y="39410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&amp; pipeline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99032" y="430682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→ CNN → classification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065776"/>
            <a:ext cx="512064" cy="512064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065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80" dirty="0"/>
          </a:p>
        </p:txBody>
      </p:sp>
      <p:sp>
        <p:nvSpPr>
          <p:cNvPr id="18" name="Text 16"/>
          <p:cNvSpPr/>
          <p:nvPr/>
        </p:nvSpPr>
        <p:spPr>
          <a:xfrm>
            <a:off x="1399032" y="50200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99032" y="538581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Landmarks, downsampling, normalization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1828800"/>
            <a:ext cx="512064" cy="512064"/>
          </a:xfrm>
          <a:prstGeom prst="ellipse">
            <a:avLst/>
          </a:prstGeom>
          <a:solidFill>
            <a:srgbClr val="11414F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80" dirty="0"/>
          </a:p>
        </p:txBody>
      </p:sp>
      <p:sp>
        <p:nvSpPr>
          <p:cNvPr id="22" name="Text 20"/>
          <p:cNvSpPr/>
          <p:nvPr/>
        </p:nvSpPr>
        <p:spPr>
          <a:xfrm>
            <a:off x="6702552" y="17830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&amp; split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702552" y="21488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Per-stroke handling, leak-free split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89320" y="2907792"/>
            <a:ext cx="512064" cy="512064"/>
          </a:xfrm>
          <a:prstGeom prst="ellipse">
            <a:avLst/>
          </a:prstGeom>
          <a:solidFill>
            <a:srgbClr val="11414F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2907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80" dirty="0"/>
          </a:p>
        </p:txBody>
      </p:sp>
      <p:sp>
        <p:nvSpPr>
          <p:cNvPr id="26" name="Text 24"/>
          <p:cNvSpPr/>
          <p:nvPr/>
        </p:nvSpPr>
        <p:spPr>
          <a:xfrm>
            <a:off x="6702552" y="28620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Fail: The imbalance problem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702552" y="32278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355 good vs 21 bad strokes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89320" y="3986784"/>
            <a:ext cx="512064" cy="512064"/>
          </a:xfrm>
          <a:prstGeom prst="ellipse">
            <a:avLst/>
          </a:prstGeom>
          <a:solidFill>
            <a:srgbClr val="11414F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3986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80" dirty="0"/>
          </a:p>
        </p:txBody>
      </p:sp>
      <p:sp>
        <p:nvSpPr>
          <p:cNvPr id="30" name="Text 28"/>
          <p:cNvSpPr/>
          <p:nvPr/>
        </p:nvSpPr>
        <p:spPr>
          <a:xfrm>
            <a:off x="6702552" y="39410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&amp; autoencoder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702552" y="430682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and LSTM-AE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89320" y="5065776"/>
            <a:ext cx="512064" cy="512064"/>
          </a:xfrm>
          <a:prstGeom prst="ellipse">
            <a:avLst/>
          </a:prstGeom>
          <a:solidFill>
            <a:srgbClr val="11414F"/>
          </a:solidFill>
          <a:ln/>
        </p:spPr>
      </p:sp>
      <p:sp>
        <p:nvSpPr>
          <p:cNvPr id="33" name="Text 31"/>
          <p:cNvSpPr/>
          <p:nvPr/>
        </p:nvSpPr>
        <p:spPr>
          <a:xfrm>
            <a:off x="5989320" y="5065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80" dirty="0"/>
          </a:p>
        </p:txBody>
      </p:sp>
      <p:sp>
        <p:nvSpPr>
          <p:cNvPr id="34" name="Text 32"/>
          <p:cNvSpPr/>
          <p:nvPr/>
        </p:nvSpPr>
        <p:spPr>
          <a:xfrm>
            <a:off x="6702552" y="50200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6702552" y="538581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Towards richer feedback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technique assessment</a:t>
            </a:r>
            <a:r>
              <a:rPr lang="en-US" sz="1650" dirty="0">
                <a:solidFill>
                  <a:srgbClr val="3C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relies on experienced coaches. It is time-consuming, subjective and does not scale.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85800" y="3154680"/>
            <a:ext cx="4206240" cy="2331720"/>
          </a:xfrm>
          <a:prstGeom prst="roundRect">
            <a:avLst>
              <a:gd name="adj" fmla="val 3922"/>
            </a:avLst>
          </a:prstGeom>
          <a:solidFill>
            <a:srgbClr val="0E3744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456432"/>
            <a:ext cx="603504" cy="603504"/>
          </a:xfrm>
          <a:prstGeom prst="ellipse">
            <a:avLst/>
          </a:prstGeom>
          <a:solidFill>
            <a:srgbClr val="16566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47872"/>
            <a:ext cx="420624" cy="420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0120" y="3456432"/>
            <a:ext cx="603504" cy="603504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538728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60120" y="420624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classify rowing strokes directly from ergometer video — giving every athlete instant feedback.</a:t>
            </a:r>
            <a:endParaRPr lang="en-US" sz="1450" dirty="0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6A1743E4-6590-714D-8DE2-22F66795BCCE}"/>
              </a:ext>
            </a:extLst>
          </p:cNvPr>
          <p:cNvGrpSpPr/>
          <p:nvPr/>
        </p:nvGrpSpPr>
        <p:grpSpPr>
          <a:xfrm>
            <a:off x="5462333" y="1691640"/>
            <a:ext cx="3246120" cy="3977640"/>
            <a:chOff x="8686800" y="1691640"/>
            <a:chExt cx="3246120" cy="3977640"/>
          </a:xfrm>
        </p:grpSpPr>
        <p:sp>
          <p:nvSpPr>
            <p:cNvPr id="18" name="Shape 12"/>
            <p:cNvSpPr/>
            <p:nvPr/>
          </p:nvSpPr>
          <p:spPr>
            <a:xfrm>
              <a:off x="8686800" y="1691640"/>
              <a:ext cx="3246120" cy="3977640"/>
            </a:xfrm>
            <a:prstGeom prst="roundRect">
              <a:avLst>
                <a:gd name="adj" fmla="val 2817"/>
              </a:avLst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1B3A45">
                  <a:alpha val="16000"/>
                </a:srgbClr>
              </a:outerShdw>
            </a:effectLst>
          </p:spPr>
        </p:sp>
        <p:pic>
          <p:nvPicPr>
            <p:cNvPr id="19" name="Image 4" descr="../assets/mot_bad.jp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796528" y="1801368"/>
              <a:ext cx="3026664" cy="3108960"/>
            </a:xfrm>
            <a:prstGeom prst="rect">
              <a:avLst/>
            </a:prstGeom>
          </p:spPr>
        </p:pic>
        <p:sp>
          <p:nvSpPr>
            <p:cNvPr id="20" name="Shape 13"/>
            <p:cNvSpPr/>
            <p:nvPr/>
          </p:nvSpPr>
          <p:spPr>
            <a:xfrm>
              <a:off x="8869680" y="1874520"/>
              <a:ext cx="384048" cy="384048"/>
            </a:xfrm>
            <a:prstGeom prst="ellipse">
              <a:avLst/>
            </a:prstGeom>
            <a:solidFill>
              <a:srgbClr val="D6453B"/>
            </a:solidFill>
            <a:ln/>
          </p:spPr>
        </p:sp>
        <p:pic>
          <p:nvPicPr>
            <p:cNvPr id="21" name="Image 5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51976" y="1956816"/>
              <a:ext cx="219456" cy="219456"/>
            </a:xfrm>
            <a:prstGeom prst="rect">
              <a:avLst/>
            </a:prstGeom>
          </p:spPr>
        </p:pic>
        <p:sp>
          <p:nvSpPr>
            <p:cNvPr id="22" name="Text 14"/>
            <p:cNvSpPr/>
            <p:nvPr/>
          </p:nvSpPr>
          <p:spPr>
            <a:xfrm>
              <a:off x="8823960" y="4956048"/>
              <a:ext cx="2971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D645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Faulty technique</a:t>
              </a:r>
              <a:endParaRPr lang="en-US" sz="1400" dirty="0"/>
            </a:p>
          </p:txBody>
        </p:sp>
        <p:sp>
          <p:nvSpPr>
            <p:cNvPr id="23" name="Text 15"/>
            <p:cNvSpPr/>
            <p:nvPr/>
          </p:nvSpPr>
          <p:spPr>
            <a:xfrm>
              <a:off x="8823960" y="5212080"/>
              <a:ext cx="2971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E74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Hunched back · heels lifting · early arm pull</a:t>
              </a:r>
              <a:endParaRPr lang="en-US" sz="1050" dirty="0"/>
            </a:p>
          </p:txBody>
        </p:sp>
      </p:grpSp>
      <p:sp>
        <p:nvSpPr>
          <p:cNvPr id="24" name="Shape 16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5" name="Text 17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E092ED0C-3325-8EEF-E936-1AE2586FF425}"/>
              </a:ext>
            </a:extLst>
          </p:cNvPr>
          <p:cNvGrpSpPr/>
          <p:nvPr/>
        </p:nvGrpSpPr>
        <p:grpSpPr>
          <a:xfrm>
            <a:off x="8829731" y="1714500"/>
            <a:ext cx="3246120" cy="3977640"/>
            <a:chOff x="1097280" y="269748"/>
            <a:chExt cx="3246120" cy="3977640"/>
          </a:xfrm>
        </p:grpSpPr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BFF25104-B8DB-5AC8-827D-44738B5F833E}"/>
                </a:ext>
              </a:extLst>
            </p:cNvPr>
            <p:cNvGrpSpPr/>
            <p:nvPr/>
          </p:nvGrpSpPr>
          <p:grpSpPr>
            <a:xfrm>
              <a:off x="1097280" y="269748"/>
              <a:ext cx="3246120" cy="3977640"/>
              <a:chOff x="5257800" y="1691640"/>
              <a:chExt cx="3246120" cy="3977640"/>
            </a:xfrm>
          </p:grpSpPr>
          <p:sp>
            <p:nvSpPr>
              <p:cNvPr id="12" name="Shape 8"/>
              <p:cNvSpPr/>
              <p:nvPr/>
            </p:nvSpPr>
            <p:spPr>
              <a:xfrm>
                <a:off x="5257800" y="1691640"/>
                <a:ext cx="3246120" cy="3977640"/>
              </a:xfrm>
              <a:prstGeom prst="roundRect">
                <a:avLst>
                  <a:gd name="adj" fmla="val 2817"/>
                </a:avLst>
              </a:prstGeom>
              <a:solidFill>
                <a:srgbClr val="FFFFFF"/>
              </a:solidFill>
              <a:ln/>
              <a:effectLst>
                <a:outerShdw blurRad="114300" dist="38100" dir="5400000" algn="bl" rotWithShape="0">
                  <a:srgbClr val="1B3A45">
                    <a:alpha val="16000"/>
                  </a:srgbClr>
                </a:outerShdw>
              </a:effectLst>
            </p:spPr>
          </p:sp>
          <p:pic>
            <p:nvPicPr>
              <p:cNvPr id="13" name="Image 2" descr="../assets/mot_good.jpg"/>
              <p:cNvPicPr>
                <a:picLocks noChangeAspect="1"/>
              </p:cNvPicPr>
              <p:nvPr/>
            </p:nvPicPr>
            <p:blipFill>
              <a:blip r:embed="rId6"/>
              <a:srcRect/>
              <a:stretch/>
            </p:blipFill>
            <p:spPr>
              <a:xfrm>
                <a:off x="5367528" y="1801368"/>
                <a:ext cx="3026664" cy="3108960"/>
              </a:xfrm>
              <a:prstGeom prst="rect">
                <a:avLst/>
              </a:prstGeom>
            </p:spPr>
          </p:pic>
          <p:sp>
            <p:nvSpPr>
              <p:cNvPr id="16" name="Text 10"/>
              <p:cNvSpPr/>
              <p:nvPr/>
            </p:nvSpPr>
            <p:spPr>
              <a:xfrm>
                <a:off x="5394960" y="4956048"/>
                <a:ext cx="297180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1E9E5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Good technique</a:t>
                </a:r>
                <a:endParaRPr lang="en-US" sz="1400" dirty="0"/>
              </a:p>
            </p:txBody>
          </p:sp>
          <p:sp>
            <p:nvSpPr>
              <p:cNvPr id="17" name="Text 11"/>
              <p:cNvSpPr/>
              <p:nvPr/>
            </p:nvSpPr>
            <p:spPr>
              <a:xfrm>
                <a:off x="5394960" y="5212080"/>
                <a:ext cx="29718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5E74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Straight back · heels down · legs then arms</a:t>
                </a:r>
                <a:endParaRPr lang="en-US" sz="1050" dirty="0"/>
              </a:p>
            </p:txBody>
          </p:sp>
        </p:grpSp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F03E94EE-80C3-7615-C67B-DD83AF903DAC}"/>
                </a:ext>
              </a:extLst>
            </p:cNvPr>
            <p:cNvGrpSpPr/>
            <p:nvPr/>
          </p:nvGrpSpPr>
          <p:grpSpPr>
            <a:xfrm>
              <a:off x="1234440" y="410999"/>
              <a:ext cx="384048" cy="384048"/>
              <a:chOff x="5440680" y="1874520"/>
              <a:chExt cx="384048" cy="384048"/>
            </a:xfrm>
          </p:grpSpPr>
          <p:sp>
            <p:nvSpPr>
              <p:cNvPr id="14" name="Shape 9"/>
              <p:cNvSpPr/>
              <p:nvPr/>
            </p:nvSpPr>
            <p:spPr>
              <a:xfrm>
                <a:off x="5440680" y="1874520"/>
                <a:ext cx="384048" cy="384048"/>
              </a:xfrm>
              <a:prstGeom prst="ellipse">
                <a:avLst/>
              </a:prstGeom>
              <a:solidFill>
                <a:srgbClr val="1E9E54"/>
              </a:solidFill>
              <a:ln/>
            </p:spPr>
          </p:sp>
          <p:pic>
            <p:nvPicPr>
              <p:cNvPr id="15" name="Image 3" descr="preencoded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22976" y="1956816"/>
                <a:ext cx="219456" cy="219456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  ·  1 /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inertial sensors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 et al. (2015)</a:t>
            </a:r>
            <a:r>
              <a:rPr lang="en-US" sz="1350" i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Analysis of indoor rowing motion using wearable inertial sensors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69037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2304288"/>
            <a:ext cx="566928" cy="566928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39572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40280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256032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experienced from novice rowers.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3319272"/>
            <a:ext cx="69037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41832" y="3566160"/>
            <a:ext cx="566928" cy="566928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6576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502152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91640" y="3822192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k-Nearest-</a:t>
            </a:r>
            <a:r>
              <a:rPr lang="en-US" sz="1250" dirty="0" err="1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85800" y="4581144"/>
            <a:ext cx="69037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1832" y="4828032"/>
            <a:ext cx="566928" cy="566928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91947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764024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91640" y="5084064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differences in stroke-timing consistency — but no difference in absolute posture angles.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863840" y="2057400"/>
            <a:ext cx="3657600" cy="3584448"/>
          </a:xfrm>
          <a:prstGeom prst="roundRect">
            <a:avLst>
              <a:gd name="adj" fmla="val 2551"/>
            </a:avLst>
          </a:prstGeom>
          <a:solidFill>
            <a:srgbClr val="FBF1D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183880" y="2377440"/>
            <a:ext cx="640080" cy="640080"/>
          </a:xfrm>
          <a:prstGeom prst="ellipse">
            <a:avLst/>
          </a:prstGeom>
          <a:solidFill>
            <a:srgbClr val="EC9A1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5146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18388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183880" y="35661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E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Relies on on-body sensors — the athlete has to wear hardware on every session.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183880" y="4800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7A55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approach avoids this — </a:t>
            </a:r>
            <a:r>
              <a:rPr lang="en-US" sz="1300" dirty="0">
                <a:solidFill>
                  <a:srgbClr val="6E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camera is all that is needed.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7" name="Text 21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  ·  2 /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Pose-based deep learning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Garg et al. (2022)</a:t>
            </a:r>
            <a:r>
              <a:rPr lang="en-US" sz="1350" i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Yoga pose classification: a CNN and MediaPipe inspired deep-learning approach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5943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23544" y="2322576"/>
            <a:ext cx="566928" cy="566928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4140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55064" y="222199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55064" y="253288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yoga postures; compare models with vs. without skeletonization.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3319272"/>
            <a:ext cx="5943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23544" y="3584448"/>
            <a:ext cx="566928" cy="566928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67588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55064" y="348386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655064" y="379476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skeletonization, then CNN and transfer-learning models.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85800" y="4581144"/>
            <a:ext cx="5943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23544" y="4846320"/>
            <a:ext cx="566928" cy="566928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493776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55064" y="4745736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655064" y="505663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Skeletonization clearly boosts performance — and a custom CNN benefits most, beating the transfer-learning models.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858000" y="2057400"/>
            <a:ext cx="4663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pic>
        <p:nvPicPr>
          <p:cNvPr id="21" name="Image 3" descr="../assets/image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40880" y="2240280"/>
            <a:ext cx="4297680" cy="19659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4160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→ skeleton → classification  (Garg et al.)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858000" y="4544568"/>
            <a:ext cx="4663440" cy="1097280"/>
          </a:xfrm>
          <a:prstGeom prst="roundRect">
            <a:avLst>
              <a:gd name="adj" fmla="val 8333"/>
            </a:avLst>
          </a:prstGeom>
          <a:solidFill>
            <a:srgbClr val="0E3744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484632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772400" y="46817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r>
              <a:rPr lang="en-US" sz="12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Skeletonization + a custom CNN is the most promising route — this directly motivates my design.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approach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28320" y="1783080"/>
            <a:ext cx="3200400" cy="1645920"/>
          </a:xfrm>
          <a:prstGeom prst="roundRect">
            <a:avLst>
              <a:gd name="adj" fmla="val 7059"/>
            </a:avLst>
          </a:prstGeom>
          <a:solidFill>
            <a:srgbClr val="11414F"/>
          </a:solidFill>
          <a:ln/>
        </p:spPr>
      </p:sp>
      <p:sp>
        <p:nvSpPr>
          <p:cNvPr id="5" name="Shape 3"/>
          <p:cNvSpPr/>
          <p:nvPr/>
        </p:nvSpPr>
        <p:spPr>
          <a:xfrm>
            <a:off x="1002640" y="2075688"/>
            <a:ext cx="640080" cy="640080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8944" y="22219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42920" y="2057400"/>
            <a:ext cx="384048" cy="384048"/>
          </a:xfrm>
          <a:prstGeom prst="ellipse">
            <a:avLst/>
          </a:prstGeom>
          <a:solidFill>
            <a:srgbClr val="0B2027"/>
          </a:solidFill>
          <a:ln/>
        </p:spPr>
      </p:sp>
      <p:sp>
        <p:nvSpPr>
          <p:cNvPr id="8" name="Text 5"/>
          <p:cNvSpPr/>
          <p:nvPr/>
        </p:nvSpPr>
        <p:spPr>
          <a:xfrm>
            <a:off x="32429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1002640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extraction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2640" y="30815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landmarks from ergometer video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1872" y="2414016"/>
            <a:ext cx="411480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95648" y="1783080"/>
            <a:ext cx="3200400" cy="1645920"/>
          </a:xfrm>
          <a:prstGeom prst="roundRect">
            <a:avLst>
              <a:gd name="adj" fmla="val 7059"/>
            </a:avLst>
          </a:prstGeom>
          <a:solidFill>
            <a:srgbClr val="11414F"/>
          </a:solidFill>
          <a:ln/>
        </p:spPr>
      </p:sp>
      <p:sp>
        <p:nvSpPr>
          <p:cNvPr id="13" name="Shape 9"/>
          <p:cNvSpPr/>
          <p:nvPr/>
        </p:nvSpPr>
        <p:spPr>
          <a:xfrm>
            <a:off x="4769968" y="2075688"/>
            <a:ext cx="640080" cy="640080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6272" y="2221992"/>
            <a:ext cx="347472" cy="34747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010248" y="2057400"/>
            <a:ext cx="384048" cy="384048"/>
          </a:xfrm>
          <a:prstGeom prst="ellipse">
            <a:avLst/>
          </a:prstGeom>
          <a:solidFill>
            <a:srgbClr val="0B2027"/>
          </a:solidFill>
          <a:ln/>
        </p:spPr>
      </p:sp>
      <p:sp>
        <p:nvSpPr>
          <p:cNvPr id="16" name="Text 11"/>
          <p:cNvSpPr/>
          <p:nvPr/>
        </p:nvSpPr>
        <p:spPr>
          <a:xfrm>
            <a:off x="701024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60" dirty="0"/>
          </a:p>
        </p:txBody>
      </p:sp>
      <p:sp>
        <p:nvSpPr>
          <p:cNvPr id="17" name="Text 12"/>
          <p:cNvSpPr/>
          <p:nvPr/>
        </p:nvSpPr>
        <p:spPr>
          <a:xfrm>
            <a:off x="4769968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CNN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769968" y="30815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the landmark sequences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9200" y="2414016"/>
            <a:ext cx="411480" cy="29260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262976" y="1783080"/>
            <a:ext cx="3200400" cy="1645920"/>
          </a:xfrm>
          <a:prstGeom prst="roundRect">
            <a:avLst>
              <a:gd name="adj" fmla="val 7059"/>
            </a:avLst>
          </a:prstGeom>
          <a:solidFill>
            <a:srgbClr val="11414F"/>
          </a:solidFill>
          <a:ln/>
        </p:spPr>
      </p:sp>
      <p:sp>
        <p:nvSpPr>
          <p:cNvPr id="21" name="Shape 15"/>
          <p:cNvSpPr/>
          <p:nvPr/>
        </p:nvSpPr>
        <p:spPr>
          <a:xfrm>
            <a:off x="8537296" y="2075688"/>
            <a:ext cx="640080" cy="640080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3600" y="2221992"/>
            <a:ext cx="347472" cy="34747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0777576" y="2057400"/>
            <a:ext cx="384048" cy="384048"/>
          </a:xfrm>
          <a:prstGeom prst="ellipse">
            <a:avLst/>
          </a:prstGeom>
          <a:solidFill>
            <a:srgbClr val="0B2027"/>
          </a:solidFill>
          <a:ln/>
        </p:spPr>
      </p:sp>
      <p:sp>
        <p:nvSpPr>
          <p:cNvPr id="24" name="Text 17"/>
          <p:cNvSpPr/>
          <p:nvPr/>
        </p:nvSpPr>
        <p:spPr>
          <a:xfrm>
            <a:off x="1077757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60" dirty="0"/>
          </a:p>
        </p:txBody>
      </p:sp>
      <p:sp>
        <p:nvSpPr>
          <p:cNvPr id="25" name="Text 18"/>
          <p:cNvSpPr/>
          <p:nvPr/>
        </p:nvSpPr>
        <p:spPr>
          <a:xfrm>
            <a:off x="8537296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8537296" y="30815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stroke vs. bad stroke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1706728" y="3703320"/>
            <a:ext cx="4160520" cy="2331720"/>
          </a:xfrm>
          <a:prstGeom prst="roundRect">
            <a:avLst>
              <a:gd name="adj" fmla="val 3922"/>
            </a:avLst>
          </a:prstGeom>
          <a:solidFill>
            <a:srgbClr val="0E2F39"/>
          </a:solidFill>
          <a:ln/>
        </p:spPr>
      </p:sp>
      <p:pic>
        <p:nvPicPr>
          <p:cNvPr id="28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986888" y="3831336"/>
            <a:ext cx="1600200" cy="160020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1962760" y="5468112"/>
            <a:ext cx="310896" cy="310896"/>
          </a:xfrm>
          <a:prstGeom prst="ellipse">
            <a:avLst/>
          </a:prstGeom>
          <a:solidFill>
            <a:srgbClr val="1E9E54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26768" y="5532120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365096" y="546811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Stroke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324448" y="3703320"/>
            <a:ext cx="4160520" cy="2331720"/>
          </a:xfrm>
          <a:prstGeom prst="roundRect">
            <a:avLst>
              <a:gd name="adj" fmla="val 3922"/>
            </a:avLst>
          </a:prstGeom>
          <a:solidFill>
            <a:srgbClr val="0E2F39"/>
          </a:solidFill>
          <a:ln/>
        </p:spPr>
      </p:sp>
      <p:pic>
        <p:nvPicPr>
          <p:cNvPr id="33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7604608" y="3831336"/>
            <a:ext cx="1600200" cy="160020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6580480" y="5468112"/>
            <a:ext cx="310896" cy="310896"/>
          </a:xfrm>
          <a:prstGeom prst="ellipse">
            <a:avLst/>
          </a:prstGeom>
          <a:solidFill>
            <a:srgbClr val="D6453B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4488" y="5532120"/>
            <a:ext cx="182880" cy="18288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982816" y="546811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Stroke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 · 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8521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457200" cy="45720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00200" y="2121408"/>
            <a:ext cx="603504" cy="603504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21284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77440" y="20299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extraction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2377440" y="23957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coordinates stored as CSV — 69 features per frame.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3236976"/>
            <a:ext cx="58521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60120" y="3511296"/>
            <a:ext cx="457200" cy="45720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600200" y="3529584"/>
            <a:ext cx="603504" cy="603504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3621024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77440" y="34381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Downsampling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2377440" y="38039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fps → 10 fps: removes redundancy while keeping the motion.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" y="4645152"/>
            <a:ext cx="58521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60120" y="4919472"/>
            <a:ext cx="457200" cy="45720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0" name="Text 16"/>
          <p:cNvSpPr/>
          <p:nvPr/>
        </p:nvSpPr>
        <p:spPr>
          <a:xfrm>
            <a:off x="96012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1600200" y="4937760"/>
            <a:ext cx="603504" cy="603504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5029200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377440" y="4846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2377440" y="5212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videos from different angles and body proportions comparable.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812280" y="1828800"/>
            <a:ext cx="4709160" cy="3931920"/>
          </a:xfrm>
          <a:prstGeom prst="roundRect">
            <a:avLst>
              <a:gd name="adj" fmla="val 2326"/>
            </a:avLst>
          </a:prstGeom>
          <a:solidFill>
            <a:srgbClr val="12333D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086600" y="20116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data  ·  CSV</a:t>
            </a:r>
            <a:endParaRPr lang="en-US" sz="1200" dirty="0"/>
          </a:p>
        </p:txBody>
      </p:sp>
      <p:pic>
        <p:nvPicPr>
          <p:cNvPr id="27" name="Image 3" descr="../assets/image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40880" y="2468880"/>
            <a:ext cx="4251960" cy="9144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086600" y="3611880"/>
            <a:ext cx="4160520" cy="0"/>
          </a:xfrm>
          <a:prstGeom prst="line">
            <a:avLst/>
          </a:prstGeom>
          <a:noFill/>
          <a:ln w="12700">
            <a:solidFill>
              <a:srgbClr val="2A4E5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086600" y="3794760"/>
            <a:ext cx="138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2300" dirty="0"/>
          </a:p>
        </p:txBody>
      </p:sp>
      <p:sp>
        <p:nvSpPr>
          <p:cNvPr id="30" name="Text 24"/>
          <p:cNvSpPr/>
          <p:nvPr/>
        </p:nvSpPr>
        <p:spPr>
          <a:xfrm>
            <a:off x="7086600" y="4279392"/>
            <a:ext cx="138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/ frame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8473440" y="3794760"/>
            <a:ext cx="138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30→10</a:t>
            </a:r>
            <a:endParaRPr lang="en-US" sz="2300" dirty="0"/>
          </a:p>
        </p:txBody>
      </p:sp>
      <p:sp>
        <p:nvSpPr>
          <p:cNvPr id="32" name="Text 26"/>
          <p:cNvSpPr/>
          <p:nvPr/>
        </p:nvSpPr>
        <p:spPr>
          <a:xfrm>
            <a:off x="8473440" y="4279392"/>
            <a:ext cx="138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reduction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9860280" y="3794760"/>
            <a:ext cx="138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2300" dirty="0"/>
          </a:p>
        </p:txBody>
      </p:sp>
      <p:sp>
        <p:nvSpPr>
          <p:cNvPr id="34" name="Text 28"/>
          <p:cNvSpPr/>
          <p:nvPr/>
        </p:nvSpPr>
        <p:spPr>
          <a:xfrm>
            <a:off x="9860280" y="4279392"/>
            <a:ext cx="138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per-frame export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7086600" y="48920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BCD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returns a pose for every frame — 0 frames without a detected pose across the dataset.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37" name="Text 31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 · 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Why.  </a:t>
            </a:r>
            <a:r>
              <a:rPr lang="en-US" sz="1450" dirty="0">
                <a:solidFill>
                  <a:srgbClr val="3C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Recordings differ in camera angle and in the rower's body proportions, so raw coordinates are not comparable across videos.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2971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How.  </a:t>
            </a:r>
            <a:r>
              <a:rPr lang="en-US" sz="1450" dirty="0">
                <a:solidFill>
                  <a:srgbClr val="3C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each pose on a hip reference and scale by torso length — making strokes directly comparable.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425196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BF1D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720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43891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stroke, same representation — regardless of who is rowing or where the camera stands.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212080" y="1737360"/>
            <a:ext cx="6309360" cy="3931920"/>
          </a:xfrm>
          <a:prstGeom prst="roundRect">
            <a:avLst>
              <a:gd name="adj" fmla="val 2326"/>
            </a:avLst>
          </a:prstGeom>
          <a:solidFill>
            <a:srgbClr val="0E2F39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77840" y="1901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9FB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778240" y="1901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endParaRPr lang="en-US" sz="1200" dirty="0"/>
          </a:p>
        </p:txBody>
      </p:sp>
      <p:pic>
        <p:nvPicPr>
          <p:cNvPr id="12" name="Image 1" descr="../assets/image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32120" y="2240280"/>
            <a:ext cx="2331720" cy="146304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825496"/>
            <a:ext cx="457200" cy="310896"/>
          </a:xfrm>
          <a:prstGeom prst="rect">
            <a:avLst/>
          </a:prstGeom>
        </p:spPr>
      </p:pic>
      <p:pic>
        <p:nvPicPr>
          <p:cNvPr id="14" name="Image 3" descr="../assets/image7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69680" y="2240280"/>
            <a:ext cx="2331720" cy="1463040"/>
          </a:xfrm>
          <a:prstGeom prst="rect">
            <a:avLst/>
          </a:prstGeom>
        </p:spPr>
      </p:pic>
      <p:pic>
        <p:nvPicPr>
          <p:cNvPr id="15" name="Image 4" descr="../assets/image10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532120" y="3886200"/>
            <a:ext cx="2331720" cy="1463040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4471416"/>
            <a:ext cx="457200" cy="310896"/>
          </a:xfrm>
          <a:prstGeom prst="rect">
            <a:avLst/>
          </a:prstGeom>
        </p:spPr>
      </p:pic>
      <p:pic>
        <p:nvPicPr>
          <p:cNvPr id="17" name="Image 6" descr="../assets/image9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69680" y="3886200"/>
            <a:ext cx="2331720" cy="146304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19" name="Text 10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0" name="Text 11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Segmenting strokes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Goal.  </a:t>
            </a:r>
            <a:r>
              <a:rPr lang="en-US" sz="1450" dirty="0">
                <a:solidFill>
                  <a:srgbClr val="3C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strokes and locate the motion phases — catch and finish.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How.  </a:t>
            </a:r>
            <a:r>
              <a:rPr lang="en-US" sz="1450" dirty="0">
                <a:solidFill>
                  <a:srgbClr val="3C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detection on the smoothed motion signal splits the sequence into individual strokes of ~24–28 frames each.</a:t>
            </a:r>
            <a:endParaRPr lang="en-US" sz="1450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CA4557D1-0BC4-FA2C-3374-F1A7FB6EE8DA}"/>
              </a:ext>
            </a:extLst>
          </p:cNvPr>
          <p:cNvGrpSpPr/>
          <p:nvPr/>
        </p:nvGrpSpPr>
        <p:grpSpPr>
          <a:xfrm>
            <a:off x="5277678" y="1527047"/>
            <a:ext cx="6530009" cy="3631361"/>
            <a:chOff x="5212080" y="1737360"/>
            <a:chExt cx="6309360" cy="3931920"/>
          </a:xfrm>
        </p:grpSpPr>
        <p:sp>
          <p:nvSpPr>
            <p:cNvPr id="9" name="Shape 6"/>
            <p:cNvSpPr/>
            <p:nvPr/>
          </p:nvSpPr>
          <p:spPr>
            <a:xfrm>
              <a:off x="5212080" y="1737360"/>
              <a:ext cx="6309360" cy="3931920"/>
            </a:xfrm>
            <a:prstGeom prst="roundRect">
              <a:avLst>
                <a:gd name="adj" fmla="val 2326"/>
              </a:avLst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1B3A45">
                  <a:alpha val="16000"/>
                </a:srgbClr>
              </a:outerShdw>
            </a:effectLst>
          </p:spPr>
        </p:sp>
        <p:sp>
          <p:nvSpPr>
            <p:cNvPr id="10" name="Text 7"/>
            <p:cNvSpPr/>
            <p:nvPr/>
          </p:nvSpPr>
          <p:spPr>
            <a:xfrm>
              <a:off x="5486400" y="1901952"/>
              <a:ext cx="5760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3242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Detected strokes over time</a:t>
              </a:r>
              <a:endParaRPr lang="en-US" sz="1300" dirty="0"/>
            </a:p>
          </p:txBody>
        </p:sp>
        <p:pic>
          <p:nvPicPr>
            <p:cNvPr id="11" name="Image 1" descr="../assets/image12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440680" y="2286000"/>
              <a:ext cx="5852160" cy="2743200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5486400" y="5212080"/>
              <a:ext cx="57607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i="1" dirty="0">
                  <a:solidFill>
                    <a:srgbClr val="5E74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Each peak marks one stroke; phase boundaries give catch and finish.</a:t>
              </a:r>
              <a:endParaRPr lang="en-US" sz="1050" dirty="0"/>
            </a:p>
          </p:txBody>
        </p:sp>
      </p:grpSp>
      <p:sp>
        <p:nvSpPr>
          <p:cNvPr id="13" name="Shape 9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ACF12-57D5-C741-E2C1-EC82ABD12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6CBE9C-DC57-C6F6-1AB2-A9821F933C59}"/>
              </a:ext>
            </a:extLst>
          </p:cNvPr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156EF9-22D5-FCCD-2A3E-A7BB6E719174}"/>
              </a:ext>
            </a:extLst>
          </p:cNvPr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Segmenting strokes</a:t>
            </a:r>
            <a:endParaRPr lang="en-US" sz="3300" dirty="0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8C7D410-8C14-0CB0-CBCC-B39DBC052BBB}"/>
              </a:ext>
            </a:extLst>
          </p:cNvPr>
          <p:cNvGrpSpPr/>
          <p:nvPr/>
        </p:nvGrpSpPr>
        <p:grpSpPr>
          <a:xfrm>
            <a:off x="6096000" y="1527048"/>
            <a:ext cx="5691809" cy="4241573"/>
            <a:chOff x="685800" y="3703320"/>
            <a:chExt cx="4206240" cy="196596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2B644AF7-07A3-49BD-AC3A-3BBA808B3A66}"/>
                </a:ext>
              </a:extLst>
            </p:cNvPr>
            <p:cNvSpPr/>
            <p:nvPr/>
          </p:nvSpPr>
          <p:spPr>
            <a:xfrm>
              <a:off x="685800" y="3703320"/>
              <a:ext cx="4206240" cy="1965960"/>
            </a:xfrm>
            <a:prstGeom prst="roundRect">
              <a:avLst>
                <a:gd name="adj" fmla="val 4651"/>
              </a:avLst>
            </a:prstGeom>
            <a:solidFill>
              <a:srgbClr val="12333D"/>
            </a:solidFill>
            <a:ln/>
            <a:effectLst>
              <a:outerShdw blurRad="114300" dist="38100" dir="5400000" algn="bl" rotWithShape="0">
                <a:srgbClr val="1B3A45">
                  <a:alpha val="16000"/>
                </a:srgbClr>
              </a:outerShdw>
            </a:effectLst>
          </p:spPr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921E8B7-DD0B-AFB9-6ADE-63161529183A}"/>
                </a:ext>
              </a:extLst>
            </p:cNvPr>
            <p:cNvSpPr/>
            <p:nvPr/>
          </p:nvSpPr>
          <p:spPr>
            <a:xfrm>
              <a:off x="914400" y="3718036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2DD4B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Segmentation  ·  peak detection</a:t>
              </a:r>
              <a:endParaRPr lang="en-US" sz="1100" dirty="0"/>
            </a:p>
          </p:txBody>
        </p:sp>
        <p:pic>
          <p:nvPicPr>
            <p:cNvPr id="8" name="Image 0" descr="../assets/image13.png">
              <a:extLst>
                <a:ext uri="{FF2B5EF4-FFF2-40B4-BE49-F238E27FC236}">
                  <a16:creationId xmlns:a16="http://schemas.microsoft.com/office/drawing/2014/main" id="{A312DABC-2D58-4CAE-8BAE-E5990E938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68680" y="4055251"/>
              <a:ext cx="3840480" cy="1476869"/>
            </a:xfrm>
            <a:prstGeom prst="rect">
              <a:avLst/>
            </a:prstGeom>
          </p:spPr>
        </p:pic>
      </p:grpSp>
      <p:sp>
        <p:nvSpPr>
          <p:cNvPr id="13" name="Shape 9">
            <a:extLst>
              <a:ext uri="{FF2B5EF4-FFF2-40B4-BE49-F238E27FC236}">
                <a16:creationId xmlns:a16="http://schemas.microsoft.com/office/drawing/2014/main" id="{06FE8B13-BBCC-BD8B-FF57-A3F3CBA4F312}"/>
              </a:ext>
            </a:extLst>
          </p:cNvPr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B6C38E4A-1727-F3A9-19E3-83B2589B2A0D}"/>
              </a:ext>
            </a:extLst>
          </p:cNvPr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97B5A312-9A4B-5B4C-E369-303AECFA98F8}"/>
              </a:ext>
            </a:extLst>
          </p:cNvPr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C5FFBBCD-9861-0383-9AF4-9F99B6141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527048"/>
            <a:ext cx="4919870" cy="340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854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Stroke-aware train / test split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548640" cy="548640"/>
          </a:xfrm>
          <a:prstGeom prst="ellipse">
            <a:avLst/>
          </a:prstGeom>
          <a:solidFill>
            <a:srgbClr val="D645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1762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split confuses data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0120" y="2697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stroke is ~24–28 consecutive, highly correlated frames. A plain shuffle-and-split puts neighbouring frames in both train and test.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379476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E9F7F2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0120" y="4069080"/>
            <a:ext cx="548640" cy="548640"/>
          </a:xfrm>
          <a:prstGeom prst="ellipse">
            <a:avLst/>
          </a:prstGeom>
          <a:solidFill>
            <a:srgbClr val="1E9E5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1879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56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stroke, not by frame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960120" y="47091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45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every frame a </a:t>
            </a:r>
            <a:r>
              <a:rPr lang="en-US" sz="1250" b="1" dirty="0">
                <a:solidFill>
                  <a:srgbClr val="156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stroke_id</a:t>
            </a:r>
            <a:r>
              <a:rPr lang="en-US" sz="1250" dirty="0">
                <a:solidFill>
                  <a:srgbClr val="245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split on that id. It is reconstructed from the known frame and stroke counts per video.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09359" y="1783080"/>
            <a:ext cx="5722219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583680" y="19385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frames group into strokes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720840" y="2468880"/>
            <a:ext cx="146304" cy="146304"/>
          </a:xfrm>
          <a:prstGeom prst="rect">
            <a:avLst/>
          </a:prstGeom>
          <a:solidFill>
            <a:srgbClr val="1E9E54"/>
          </a:solidFill>
          <a:ln/>
        </p:spPr>
      </p:sp>
      <p:sp>
        <p:nvSpPr>
          <p:cNvPr id="17" name="Shape 13"/>
          <p:cNvSpPr/>
          <p:nvPr/>
        </p:nvSpPr>
        <p:spPr>
          <a:xfrm>
            <a:off x="6894576" y="2468880"/>
            <a:ext cx="146304" cy="146304"/>
          </a:xfrm>
          <a:prstGeom prst="rect">
            <a:avLst/>
          </a:prstGeom>
          <a:solidFill>
            <a:srgbClr val="1E9E54"/>
          </a:solidFill>
          <a:ln/>
        </p:spPr>
      </p:sp>
      <p:sp>
        <p:nvSpPr>
          <p:cNvPr id="18" name="Shape 14"/>
          <p:cNvSpPr/>
          <p:nvPr/>
        </p:nvSpPr>
        <p:spPr>
          <a:xfrm>
            <a:off x="7068312" y="2468880"/>
            <a:ext cx="146304" cy="146304"/>
          </a:xfrm>
          <a:prstGeom prst="rect">
            <a:avLst/>
          </a:prstGeom>
          <a:solidFill>
            <a:srgbClr val="1E9E54"/>
          </a:solidFill>
          <a:ln/>
        </p:spPr>
      </p:sp>
      <p:sp>
        <p:nvSpPr>
          <p:cNvPr id="19" name="Shape 15"/>
          <p:cNvSpPr/>
          <p:nvPr/>
        </p:nvSpPr>
        <p:spPr>
          <a:xfrm>
            <a:off x="7242048" y="2468880"/>
            <a:ext cx="146304" cy="146304"/>
          </a:xfrm>
          <a:prstGeom prst="rect">
            <a:avLst/>
          </a:prstGeom>
          <a:solidFill>
            <a:srgbClr val="1E9E54"/>
          </a:solidFill>
          <a:ln/>
        </p:spPr>
      </p:sp>
      <p:sp>
        <p:nvSpPr>
          <p:cNvPr id="20" name="Shape 16"/>
          <p:cNvSpPr/>
          <p:nvPr/>
        </p:nvSpPr>
        <p:spPr>
          <a:xfrm>
            <a:off x="7415784" y="2468880"/>
            <a:ext cx="146304" cy="146304"/>
          </a:xfrm>
          <a:prstGeom prst="rect">
            <a:avLst/>
          </a:prstGeom>
          <a:solidFill>
            <a:srgbClr val="1E9E54"/>
          </a:solidFill>
          <a:ln/>
        </p:spPr>
      </p:sp>
      <p:sp>
        <p:nvSpPr>
          <p:cNvPr id="21" name="Text 17"/>
          <p:cNvSpPr/>
          <p:nvPr/>
        </p:nvSpPr>
        <p:spPr>
          <a:xfrm>
            <a:off x="6720840" y="266090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1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7790688" y="2468880"/>
            <a:ext cx="146304" cy="146304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23" name="Shape 19"/>
          <p:cNvSpPr/>
          <p:nvPr/>
        </p:nvSpPr>
        <p:spPr>
          <a:xfrm>
            <a:off x="7964424" y="2468880"/>
            <a:ext cx="146304" cy="146304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24" name="Shape 20"/>
          <p:cNvSpPr/>
          <p:nvPr/>
        </p:nvSpPr>
        <p:spPr>
          <a:xfrm>
            <a:off x="8138160" y="2468880"/>
            <a:ext cx="146304" cy="146304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25" name="Shape 21"/>
          <p:cNvSpPr/>
          <p:nvPr/>
        </p:nvSpPr>
        <p:spPr>
          <a:xfrm>
            <a:off x="8311896" y="2468880"/>
            <a:ext cx="146304" cy="146304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26" name="Shape 22"/>
          <p:cNvSpPr/>
          <p:nvPr/>
        </p:nvSpPr>
        <p:spPr>
          <a:xfrm>
            <a:off x="8485632" y="2468880"/>
            <a:ext cx="146304" cy="146304"/>
          </a:xfrm>
          <a:prstGeom prst="rect">
            <a:avLst/>
          </a:prstGeom>
          <a:solidFill>
            <a:srgbClr val="0FB5A6"/>
          </a:solidFill>
          <a:ln/>
        </p:spPr>
      </p:sp>
      <p:sp>
        <p:nvSpPr>
          <p:cNvPr id="27" name="Text 23"/>
          <p:cNvSpPr/>
          <p:nvPr/>
        </p:nvSpPr>
        <p:spPr>
          <a:xfrm>
            <a:off x="7790688" y="266090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2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8860536" y="2468880"/>
            <a:ext cx="146304" cy="146304"/>
          </a:xfrm>
          <a:prstGeom prst="rect">
            <a:avLst/>
          </a:prstGeom>
          <a:solidFill>
            <a:srgbClr val="EC9A1E"/>
          </a:solidFill>
          <a:ln/>
        </p:spPr>
      </p:sp>
      <p:sp>
        <p:nvSpPr>
          <p:cNvPr id="29" name="Shape 25"/>
          <p:cNvSpPr/>
          <p:nvPr/>
        </p:nvSpPr>
        <p:spPr>
          <a:xfrm>
            <a:off x="9034272" y="2468880"/>
            <a:ext cx="146304" cy="146304"/>
          </a:xfrm>
          <a:prstGeom prst="rect">
            <a:avLst/>
          </a:prstGeom>
          <a:solidFill>
            <a:srgbClr val="EC9A1E"/>
          </a:solidFill>
          <a:ln/>
        </p:spPr>
      </p:sp>
      <p:sp>
        <p:nvSpPr>
          <p:cNvPr id="30" name="Shape 26"/>
          <p:cNvSpPr/>
          <p:nvPr/>
        </p:nvSpPr>
        <p:spPr>
          <a:xfrm>
            <a:off x="9208008" y="2468880"/>
            <a:ext cx="146304" cy="146304"/>
          </a:xfrm>
          <a:prstGeom prst="rect">
            <a:avLst/>
          </a:prstGeom>
          <a:solidFill>
            <a:srgbClr val="EC9A1E"/>
          </a:solidFill>
          <a:ln/>
        </p:spPr>
      </p:sp>
      <p:sp>
        <p:nvSpPr>
          <p:cNvPr id="31" name="Shape 27"/>
          <p:cNvSpPr/>
          <p:nvPr/>
        </p:nvSpPr>
        <p:spPr>
          <a:xfrm>
            <a:off x="9381744" y="2468880"/>
            <a:ext cx="146304" cy="146304"/>
          </a:xfrm>
          <a:prstGeom prst="rect">
            <a:avLst/>
          </a:prstGeom>
          <a:solidFill>
            <a:srgbClr val="EC9A1E"/>
          </a:solidFill>
          <a:ln/>
        </p:spPr>
      </p:sp>
      <p:sp>
        <p:nvSpPr>
          <p:cNvPr id="32" name="Shape 28"/>
          <p:cNvSpPr/>
          <p:nvPr/>
        </p:nvSpPr>
        <p:spPr>
          <a:xfrm>
            <a:off x="9555480" y="2468880"/>
            <a:ext cx="146304" cy="146304"/>
          </a:xfrm>
          <a:prstGeom prst="rect">
            <a:avLst/>
          </a:prstGeom>
          <a:solidFill>
            <a:srgbClr val="EC9A1E"/>
          </a:solidFill>
          <a:ln/>
        </p:spPr>
      </p:sp>
      <p:sp>
        <p:nvSpPr>
          <p:cNvPr id="33" name="Text 29"/>
          <p:cNvSpPr/>
          <p:nvPr/>
        </p:nvSpPr>
        <p:spPr>
          <a:xfrm>
            <a:off x="8860536" y="266090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3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9930384" y="2468880"/>
            <a:ext cx="146304" cy="146304"/>
          </a:xfrm>
          <a:prstGeom prst="rect">
            <a:avLst/>
          </a:prstGeom>
          <a:solidFill>
            <a:srgbClr val="11414F"/>
          </a:solidFill>
          <a:ln/>
        </p:spPr>
      </p:sp>
      <p:sp>
        <p:nvSpPr>
          <p:cNvPr id="35" name="Shape 31"/>
          <p:cNvSpPr/>
          <p:nvPr/>
        </p:nvSpPr>
        <p:spPr>
          <a:xfrm>
            <a:off x="10104120" y="2468880"/>
            <a:ext cx="146304" cy="146304"/>
          </a:xfrm>
          <a:prstGeom prst="rect">
            <a:avLst/>
          </a:prstGeom>
          <a:solidFill>
            <a:srgbClr val="11414F"/>
          </a:solidFill>
          <a:ln/>
        </p:spPr>
      </p:sp>
      <p:sp>
        <p:nvSpPr>
          <p:cNvPr id="36" name="Shape 32"/>
          <p:cNvSpPr/>
          <p:nvPr/>
        </p:nvSpPr>
        <p:spPr>
          <a:xfrm>
            <a:off x="10277856" y="2468880"/>
            <a:ext cx="146304" cy="146304"/>
          </a:xfrm>
          <a:prstGeom prst="rect">
            <a:avLst/>
          </a:prstGeom>
          <a:solidFill>
            <a:srgbClr val="11414F"/>
          </a:solidFill>
          <a:ln/>
        </p:spPr>
      </p:sp>
      <p:sp>
        <p:nvSpPr>
          <p:cNvPr id="37" name="Shape 33"/>
          <p:cNvSpPr/>
          <p:nvPr/>
        </p:nvSpPr>
        <p:spPr>
          <a:xfrm>
            <a:off x="10451592" y="2468880"/>
            <a:ext cx="146304" cy="146304"/>
          </a:xfrm>
          <a:prstGeom prst="rect">
            <a:avLst/>
          </a:prstGeom>
          <a:solidFill>
            <a:srgbClr val="11414F"/>
          </a:solidFill>
          <a:ln/>
        </p:spPr>
      </p:sp>
      <p:sp>
        <p:nvSpPr>
          <p:cNvPr id="38" name="Shape 34"/>
          <p:cNvSpPr/>
          <p:nvPr/>
        </p:nvSpPr>
        <p:spPr>
          <a:xfrm>
            <a:off x="10625328" y="2468880"/>
            <a:ext cx="146304" cy="146304"/>
          </a:xfrm>
          <a:prstGeom prst="rect">
            <a:avLst/>
          </a:prstGeom>
          <a:solidFill>
            <a:srgbClr val="11414F"/>
          </a:solidFill>
          <a:ln/>
        </p:spPr>
      </p:sp>
      <p:sp>
        <p:nvSpPr>
          <p:cNvPr id="39" name="Text 35"/>
          <p:cNvSpPr/>
          <p:nvPr/>
        </p:nvSpPr>
        <p:spPr>
          <a:xfrm>
            <a:off x="9930384" y="266090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4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11000232" y="2468880"/>
            <a:ext cx="146304" cy="146304"/>
          </a:xfrm>
          <a:prstGeom prst="rect">
            <a:avLst/>
          </a:prstGeom>
          <a:solidFill>
            <a:srgbClr val="8AA0A8"/>
          </a:solidFill>
          <a:ln/>
        </p:spPr>
      </p:sp>
      <p:sp>
        <p:nvSpPr>
          <p:cNvPr id="41" name="Shape 37"/>
          <p:cNvSpPr/>
          <p:nvPr/>
        </p:nvSpPr>
        <p:spPr>
          <a:xfrm>
            <a:off x="11173968" y="2468880"/>
            <a:ext cx="146304" cy="146304"/>
          </a:xfrm>
          <a:prstGeom prst="rect">
            <a:avLst/>
          </a:prstGeom>
          <a:solidFill>
            <a:srgbClr val="8AA0A8"/>
          </a:solidFill>
          <a:ln/>
        </p:spPr>
      </p:sp>
      <p:sp>
        <p:nvSpPr>
          <p:cNvPr id="42" name="Shape 38"/>
          <p:cNvSpPr/>
          <p:nvPr/>
        </p:nvSpPr>
        <p:spPr>
          <a:xfrm>
            <a:off x="11347704" y="2468880"/>
            <a:ext cx="146304" cy="146304"/>
          </a:xfrm>
          <a:prstGeom prst="rect">
            <a:avLst/>
          </a:prstGeom>
          <a:solidFill>
            <a:srgbClr val="8AA0A8"/>
          </a:solidFill>
          <a:ln/>
        </p:spPr>
      </p:sp>
      <p:sp>
        <p:nvSpPr>
          <p:cNvPr id="43" name="Shape 39"/>
          <p:cNvSpPr/>
          <p:nvPr/>
        </p:nvSpPr>
        <p:spPr>
          <a:xfrm>
            <a:off x="11521440" y="2468880"/>
            <a:ext cx="146304" cy="146304"/>
          </a:xfrm>
          <a:prstGeom prst="rect">
            <a:avLst/>
          </a:prstGeom>
          <a:solidFill>
            <a:srgbClr val="8AA0A8"/>
          </a:solidFill>
          <a:ln/>
        </p:spPr>
      </p:sp>
      <p:sp>
        <p:nvSpPr>
          <p:cNvPr id="44" name="Shape 40"/>
          <p:cNvSpPr/>
          <p:nvPr/>
        </p:nvSpPr>
        <p:spPr>
          <a:xfrm>
            <a:off x="11695176" y="2468880"/>
            <a:ext cx="146304" cy="146304"/>
          </a:xfrm>
          <a:prstGeom prst="rect">
            <a:avLst/>
          </a:prstGeom>
          <a:solidFill>
            <a:srgbClr val="8AA0A8"/>
          </a:solidFill>
          <a:ln/>
        </p:spPr>
      </p:sp>
      <p:sp>
        <p:nvSpPr>
          <p:cNvPr id="45" name="Text 41"/>
          <p:cNvSpPr/>
          <p:nvPr/>
        </p:nvSpPr>
        <p:spPr>
          <a:xfrm>
            <a:off x="11000232" y="2660904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5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6583680" y="3063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block = one stroke (≈24–28 frames, shown reduced)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720840" y="3611880"/>
            <a:ext cx="5062086" cy="0"/>
          </a:xfrm>
          <a:prstGeom prst="line">
            <a:avLst/>
          </a:prstGeom>
          <a:noFill/>
          <a:ln w="12700">
            <a:solidFill>
              <a:srgbClr val="E1EAED"/>
            </a:solidFill>
            <a:prstDash val="dash"/>
          </a:ln>
        </p:spPr>
      </p: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714B0187-6758-6A59-1457-5DA531A865D7}"/>
              </a:ext>
            </a:extLst>
          </p:cNvPr>
          <p:cNvGrpSpPr/>
          <p:nvPr/>
        </p:nvGrpSpPr>
        <p:grpSpPr>
          <a:xfrm>
            <a:off x="6720840" y="3794760"/>
            <a:ext cx="2980944" cy="1554480"/>
            <a:chOff x="6720840" y="3794760"/>
            <a:chExt cx="2743200" cy="1554480"/>
          </a:xfrm>
        </p:grpSpPr>
        <p:sp>
          <p:nvSpPr>
            <p:cNvPr id="48" name="Shape 44"/>
            <p:cNvSpPr/>
            <p:nvPr/>
          </p:nvSpPr>
          <p:spPr>
            <a:xfrm>
              <a:off x="6720840" y="3794760"/>
              <a:ext cx="2743200" cy="1554480"/>
            </a:xfrm>
            <a:prstGeom prst="roundRect">
              <a:avLst>
                <a:gd name="adj" fmla="val 4706"/>
              </a:avLst>
            </a:prstGeom>
            <a:solidFill>
              <a:srgbClr val="E9F7F2"/>
            </a:solidFill>
            <a:ln/>
          </p:spPr>
        </p:sp>
        <p:sp>
          <p:nvSpPr>
            <p:cNvPr id="49" name="Text 45"/>
            <p:cNvSpPr/>
            <p:nvPr/>
          </p:nvSpPr>
          <p:spPr>
            <a:xfrm>
              <a:off x="6720840" y="393192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200" dirty="0">
                  <a:solidFill>
                    <a:srgbClr val="15683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TRAIN</a:t>
              </a:r>
              <a:endParaRPr lang="en-US" sz="1100" dirty="0"/>
            </a:p>
          </p:txBody>
        </p:sp>
        <p:sp>
          <p:nvSpPr>
            <p:cNvPr id="50" name="Shape 46"/>
            <p:cNvSpPr/>
            <p:nvPr/>
          </p:nvSpPr>
          <p:spPr>
            <a:xfrm>
              <a:off x="6949440" y="4343400"/>
              <a:ext cx="118872" cy="118872"/>
            </a:xfrm>
            <a:prstGeom prst="rect">
              <a:avLst/>
            </a:prstGeom>
            <a:solidFill>
              <a:srgbClr val="1E9E54"/>
            </a:solidFill>
            <a:ln/>
          </p:spPr>
        </p:sp>
        <p:sp>
          <p:nvSpPr>
            <p:cNvPr id="51" name="Shape 47"/>
            <p:cNvSpPr/>
            <p:nvPr/>
          </p:nvSpPr>
          <p:spPr>
            <a:xfrm>
              <a:off x="7086600" y="4343400"/>
              <a:ext cx="118872" cy="118872"/>
            </a:xfrm>
            <a:prstGeom prst="rect">
              <a:avLst/>
            </a:prstGeom>
            <a:solidFill>
              <a:srgbClr val="1E9E54"/>
            </a:solidFill>
            <a:ln/>
          </p:spPr>
        </p:sp>
        <p:sp>
          <p:nvSpPr>
            <p:cNvPr id="52" name="Shape 48"/>
            <p:cNvSpPr/>
            <p:nvPr/>
          </p:nvSpPr>
          <p:spPr>
            <a:xfrm>
              <a:off x="7223760" y="4343400"/>
              <a:ext cx="118872" cy="118872"/>
            </a:xfrm>
            <a:prstGeom prst="rect">
              <a:avLst/>
            </a:prstGeom>
            <a:solidFill>
              <a:srgbClr val="1E9E54"/>
            </a:solidFill>
            <a:ln/>
          </p:spPr>
        </p:sp>
        <p:sp>
          <p:nvSpPr>
            <p:cNvPr id="53" name="Shape 49"/>
            <p:cNvSpPr/>
            <p:nvPr/>
          </p:nvSpPr>
          <p:spPr>
            <a:xfrm>
              <a:off x="7360920" y="4343400"/>
              <a:ext cx="118872" cy="118872"/>
            </a:xfrm>
            <a:prstGeom prst="rect">
              <a:avLst/>
            </a:prstGeom>
            <a:solidFill>
              <a:srgbClr val="1E9E54"/>
            </a:solidFill>
            <a:ln/>
          </p:spPr>
        </p:sp>
        <p:sp>
          <p:nvSpPr>
            <p:cNvPr id="54" name="Shape 50"/>
            <p:cNvSpPr/>
            <p:nvPr/>
          </p:nvSpPr>
          <p:spPr>
            <a:xfrm>
              <a:off x="7498080" y="4343400"/>
              <a:ext cx="118872" cy="118872"/>
            </a:xfrm>
            <a:prstGeom prst="rect">
              <a:avLst/>
            </a:prstGeom>
            <a:solidFill>
              <a:srgbClr val="1E9E54"/>
            </a:solidFill>
            <a:ln/>
          </p:spPr>
        </p:sp>
        <p:sp>
          <p:nvSpPr>
            <p:cNvPr id="55" name="Shape 51"/>
            <p:cNvSpPr/>
            <p:nvPr/>
          </p:nvSpPr>
          <p:spPr>
            <a:xfrm>
              <a:off x="7818120" y="4343400"/>
              <a:ext cx="118872" cy="118872"/>
            </a:xfrm>
            <a:prstGeom prst="rect">
              <a:avLst/>
            </a:prstGeom>
            <a:solidFill>
              <a:srgbClr val="0FB5A6"/>
            </a:solidFill>
            <a:ln/>
          </p:spPr>
        </p:sp>
        <p:sp>
          <p:nvSpPr>
            <p:cNvPr id="56" name="Shape 52"/>
            <p:cNvSpPr/>
            <p:nvPr/>
          </p:nvSpPr>
          <p:spPr>
            <a:xfrm>
              <a:off x="7955280" y="4343400"/>
              <a:ext cx="118872" cy="118872"/>
            </a:xfrm>
            <a:prstGeom prst="rect">
              <a:avLst/>
            </a:prstGeom>
            <a:solidFill>
              <a:srgbClr val="0FB5A6"/>
            </a:solidFill>
            <a:ln/>
          </p:spPr>
        </p:sp>
        <p:sp>
          <p:nvSpPr>
            <p:cNvPr id="57" name="Shape 53"/>
            <p:cNvSpPr/>
            <p:nvPr/>
          </p:nvSpPr>
          <p:spPr>
            <a:xfrm>
              <a:off x="8092440" y="4343400"/>
              <a:ext cx="118872" cy="118872"/>
            </a:xfrm>
            <a:prstGeom prst="rect">
              <a:avLst/>
            </a:prstGeom>
            <a:solidFill>
              <a:srgbClr val="0FB5A6"/>
            </a:solidFill>
            <a:ln/>
          </p:spPr>
        </p:sp>
        <p:sp>
          <p:nvSpPr>
            <p:cNvPr id="58" name="Shape 54"/>
            <p:cNvSpPr/>
            <p:nvPr/>
          </p:nvSpPr>
          <p:spPr>
            <a:xfrm>
              <a:off x="8229600" y="4343400"/>
              <a:ext cx="118872" cy="118872"/>
            </a:xfrm>
            <a:prstGeom prst="rect">
              <a:avLst/>
            </a:prstGeom>
            <a:solidFill>
              <a:srgbClr val="0FB5A6"/>
            </a:solidFill>
            <a:ln/>
          </p:spPr>
        </p:sp>
        <p:sp>
          <p:nvSpPr>
            <p:cNvPr id="59" name="Shape 55"/>
            <p:cNvSpPr/>
            <p:nvPr/>
          </p:nvSpPr>
          <p:spPr>
            <a:xfrm>
              <a:off x="8366760" y="4343400"/>
              <a:ext cx="118872" cy="118872"/>
            </a:xfrm>
            <a:prstGeom prst="rect">
              <a:avLst/>
            </a:prstGeom>
            <a:solidFill>
              <a:srgbClr val="0FB5A6"/>
            </a:solidFill>
            <a:ln/>
          </p:spPr>
        </p:sp>
        <p:sp>
          <p:nvSpPr>
            <p:cNvPr id="60" name="Shape 56"/>
            <p:cNvSpPr/>
            <p:nvPr/>
          </p:nvSpPr>
          <p:spPr>
            <a:xfrm>
              <a:off x="8686800" y="4343400"/>
              <a:ext cx="118872" cy="118872"/>
            </a:xfrm>
            <a:prstGeom prst="rect">
              <a:avLst/>
            </a:prstGeom>
            <a:solidFill>
              <a:srgbClr val="EC9A1E"/>
            </a:solidFill>
            <a:ln/>
          </p:spPr>
        </p:sp>
        <p:sp>
          <p:nvSpPr>
            <p:cNvPr id="61" name="Shape 57"/>
            <p:cNvSpPr/>
            <p:nvPr/>
          </p:nvSpPr>
          <p:spPr>
            <a:xfrm>
              <a:off x="8823960" y="4343400"/>
              <a:ext cx="118872" cy="118872"/>
            </a:xfrm>
            <a:prstGeom prst="rect">
              <a:avLst/>
            </a:prstGeom>
            <a:solidFill>
              <a:srgbClr val="EC9A1E"/>
            </a:solidFill>
            <a:ln/>
          </p:spPr>
        </p:sp>
        <p:sp>
          <p:nvSpPr>
            <p:cNvPr id="62" name="Shape 58"/>
            <p:cNvSpPr/>
            <p:nvPr/>
          </p:nvSpPr>
          <p:spPr>
            <a:xfrm>
              <a:off x="8961120" y="4343400"/>
              <a:ext cx="118872" cy="118872"/>
            </a:xfrm>
            <a:prstGeom prst="rect">
              <a:avLst/>
            </a:prstGeom>
            <a:solidFill>
              <a:srgbClr val="EC9A1E"/>
            </a:solidFill>
            <a:ln/>
          </p:spPr>
        </p:sp>
        <p:sp>
          <p:nvSpPr>
            <p:cNvPr id="63" name="Shape 59"/>
            <p:cNvSpPr/>
            <p:nvPr/>
          </p:nvSpPr>
          <p:spPr>
            <a:xfrm>
              <a:off x="9098280" y="4343400"/>
              <a:ext cx="118872" cy="118872"/>
            </a:xfrm>
            <a:prstGeom prst="rect">
              <a:avLst/>
            </a:prstGeom>
            <a:solidFill>
              <a:srgbClr val="EC9A1E"/>
            </a:solidFill>
            <a:ln/>
          </p:spPr>
        </p:sp>
        <p:sp>
          <p:nvSpPr>
            <p:cNvPr id="64" name="Shape 60"/>
            <p:cNvSpPr/>
            <p:nvPr/>
          </p:nvSpPr>
          <p:spPr>
            <a:xfrm>
              <a:off x="9235440" y="4343400"/>
              <a:ext cx="118872" cy="118872"/>
            </a:xfrm>
            <a:prstGeom prst="rect">
              <a:avLst/>
            </a:prstGeom>
            <a:solidFill>
              <a:srgbClr val="EC9A1E"/>
            </a:solidFill>
            <a:ln/>
          </p:spPr>
        </p:sp>
        <p:sp>
          <p:nvSpPr>
            <p:cNvPr id="65" name="Text 61"/>
            <p:cNvSpPr/>
            <p:nvPr/>
          </p:nvSpPr>
          <p:spPr>
            <a:xfrm>
              <a:off x="6720840" y="489204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24593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whole strokes only</a:t>
              </a:r>
              <a:endParaRPr lang="en-US" sz="900" dirty="0"/>
            </a:p>
          </p:txBody>
        </p:sp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157DDFCE-0E11-34C0-194E-34B497C03B84}"/>
              </a:ext>
            </a:extLst>
          </p:cNvPr>
          <p:cNvGrpSpPr/>
          <p:nvPr/>
        </p:nvGrpSpPr>
        <p:grpSpPr>
          <a:xfrm>
            <a:off x="10088530" y="3794760"/>
            <a:ext cx="1751907" cy="1554480"/>
            <a:chOff x="9646920" y="3794760"/>
            <a:chExt cx="1463040" cy="1554480"/>
          </a:xfrm>
        </p:grpSpPr>
        <p:sp>
          <p:nvSpPr>
            <p:cNvPr id="66" name="Shape 62"/>
            <p:cNvSpPr/>
            <p:nvPr/>
          </p:nvSpPr>
          <p:spPr>
            <a:xfrm>
              <a:off x="9646920" y="3794760"/>
              <a:ext cx="1463040" cy="1554480"/>
            </a:xfrm>
            <a:prstGeom prst="roundRect">
              <a:avLst>
                <a:gd name="adj" fmla="val 5000"/>
              </a:avLst>
            </a:prstGeom>
            <a:solidFill>
              <a:srgbClr val="EAF4F6"/>
            </a:solidFill>
            <a:ln/>
          </p:spPr>
        </p:sp>
        <p:sp>
          <p:nvSpPr>
            <p:cNvPr id="67" name="Text 63"/>
            <p:cNvSpPr/>
            <p:nvPr/>
          </p:nvSpPr>
          <p:spPr>
            <a:xfrm>
              <a:off x="9646920" y="3931920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200" dirty="0">
                  <a:solidFill>
                    <a:srgbClr val="0C8A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TEST</a:t>
              </a:r>
              <a:endParaRPr lang="en-US" sz="1100" dirty="0"/>
            </a:p>
          </p:txBody>
        </p:sp>
        <p:sp>
          <p:nvSpPr>
            <p:cNvPr id="68" name="Shape 64"/>
            <p:cNvSpPr/>
            <p:nvPr/>
          </p:nvSpPr>
          <p:spPr>
            <a:xfrm>
              <a:off x="9829800" y="4343400"/>
              <a:ext cx="82296" cy="118872"/>
            </a:xfrm>
            <a:prstGeom prst="rect">
              <a:avLst/>
            </a:prstGeom>
            <a:solidFill>
              <a:srgbClr val="11414F"/>
            </a:solidFill>
            <a:ln/>
          </p:spPr>
        </p:sp>
        <p:sp>
          <p:nvSpPr>
            <p:cNvPr id="69" name="Shape 65"/>
            <p:cNvSpPr/>
            <p:nvPr/>
          </p:nvSpPr>
          <p:spPr>
            <a:xfrm>
              <a:off x="9921240" y="4343400"/>
              <a:ext cx="82296" cy="118872"/>
            </a:xfrm>
            <a:prstGeom prst="rect">
              <a:avLst/>
            </a:prstGeom>
            <a:solidFill>
              <a:srgbClr val="11414F"/>
            </a:solidFill>
            <a:ln/>
          </p:spPr>
        </p:sp>
        <p:sp>
          <p:nvSpPr>
            <p:cNvPr id="70" name="Shape 66"/>
            <p:cNvSpPr/>
            <p:nvPr/>
          </p:nvSpPr>
          <p:spPr>
            <a:xfrm>
              <a:off x="10012680" y="4343400"/>
              <a:ext cx="82296" cy="118872"/>
            </a:xfrm>
            <a:prstGeom prst="rect">
              <a:avLst/>
            </a:prstGeom>
            <a:solidFill>
              <a:srgbClr val="11414F"/>
            </a:solidFill>
            <a:ln/>
          </p:spPr>
        </p:sp>
        <p:sp>
          <p:nvSpPr>
            <p:cNvPr id="71" name="Shape 67"/>
            <p:cNvSpPr/>
            <p:nvPr/>
          </p:nvSpPr>
          <p:spPr>
            <a:xfrm>
              <a:off x="10104120" y="4343400"/>
              <a:ext cx="82296" cy="118872"/>
            </a:xfrm>
            <a:prstGeom prst="rect">
              <a:avLst/>
            </a:prstGeom>
            <a:solidFill>
              <a:srgbClr val="11414F"/>
            </a:solidFill>
            <a:ln/>
          </p:spPr>
        </p:sp>
        <p:sp>
          <p:nvSpPr>
            <p:cNvPr id="72" name="Shape 68"/>
            <p:cNvSpPr/>
            <p:nvPr/>
          </p:nvSpPr>
          <p:spPr>
            <a:xfrm>
              <a:off x="10195560" y="4343400"/>
              <a:ext cx="82296" cy="118872"/>
            </a:xfrm>
            <a:prstGeom prst="rect">
              <a:avLst/>
            </a:prstGeom>
            <a:solidFill>
              <a:srgbClr val="11414F"/>
            </a:solidFill>
            <a:ln/>
          </p:spPr>
        </p:sp>
        <p:sp>
          <p:nvSpPr>
            <p:cNvPr id="73" name="Shape 69"/>
            <p:cNvSpPr/>
            <p:nvPr/>
          </p:nvSpPr>
          <p:spPr>
            <a:xfrm>
              <a:off x="10396728" y="4343400"/>
              <a:ext cx="82296" cy="118872"/>
            </a:xfrm>
            <a:prstGeom prst="rect">
              <a:avLst/>
            </a:prstGeom>
            <a:solidFill>
              <a:srgbClr val="8AA0A8"/>
            </a:solidFill>
            <a:ln/>
          </p:spPr>
        </p:sp>
        <p:sp>
          <p:nvSpPr>
            <p:cNvPr id="74" name="Shape 70"/>
            <p:cNvSpPr/>
            <p:nvPr/>
          </p:nvSpPr>
          <p:spPr>
            <a:xfrm>
              <a:off x="10488168" y="4343400"/>
              <a:ext cx="82296" cy="118872"/>
            </a:xfrm>
            <a:prstGeom prst="rect">
              <a:avLst/>
            </a:prstGeom>
            <a:solidFill>
              <a:srgbClr val="8AA0A8"/>
            </a:solidFill>
            <a:ln/>
          </p:spPr>
        </p:sp>
        <p:sp>
          <p:nvSpPr>
            <p:cNvPr id="75" name="Shape 71"/>
            <p:cNvSpPr/>
            <p:nvPr/>
          </p:nvSpPr>
          <p:spPr>
            <a:xfrm>
              <a:off x="10579608" y="4343400"/>
              <a:ext cx="82296" cy="118872"/>
            </a:xfrm>
            <a:prstGeom prst="rect">
              <a:avLst/>
            </a:prstGeom>
            <a:solidFill>
              <a:srgbClr val="8AA0A8"/>
            </a:solidFill>
            <a:ln/>
          </p:spPr>
        </p:sp>
        <p:sp>
          <p:nvSpPr>
            <p:cNvPr id="76" name="Shape 72"/>
            <p:cNvSpPr/>
            <p:nvPr/>
          </p:nvSpPr>
          <p:spPr>
            <a:xfrm>
              <a:off x="10671048" y="4343400"/>
              <a:ext cx="82296" cy="118872"/>
            </a:xfrm>
            <a:prstGeom prst="rect">
              <a:avLst/>
            </a:prstGeom>
            <a:solidFill>
              <a:srgbClr val="8AA0A8"/>
            </a:solidFill>
            <a:ln/>
          </p:spPr>
        </p:sp>
        <p:sp>
          <p:nvSpPr>
            <p:cNvPr id="77" name="Shape 73"/>
            <p:cNvSpPr/>
            <p:nvPr/>
          </p:nvSpPr>
          <p:spPr>
            <a:xfrm>
              <a:off x="10762488" y="4343400"/>
              <a:ext cx="82296" cy="118872"/>
            </a:xfrm>
            <a:prstGeom prst="rect">
              <a:avLst/>
            </a:prstGeom>
            <a:solidFill>
              <a:srgbClr val="8AA0A8"/>
            </a:solidFill>
            <a:ln/>
          </p:spPr>
        </p:sp>
        <p:sp>
          <p:nvSpPr>
            <p:cNvPr id="78" name="Text 74"/>
            <p:cNvSpPr/>
            <p:nvPr/>
          </p:nvSpPr>
          <p:spPr>
            <a:xfrm>
              <a:off x="9646920" y="4892040"/>
              <a:ext cx="1463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0C8A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held-out strokes</a:t>
              </a:r>
              <a:endParaRPr lang="en-US" sz="900" dirty="0"/>
            </a:p>
          </p:txBody>
        </p:sp>
      </p:grpSp>
      <p:sp>
        <p:nvSpPr>
          <p:cNvPr id="79" name="Shape 75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80" name="Text 76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81" name="Text 77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 ·  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baselines to beat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603504" cy="603504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28600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39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classifier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423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baseline — always predicts the dominant GOOD class.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3401568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0120" y="3813048"/>
            <a:ext cx="603504" cy="603504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9044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657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37360" y="404164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Class-weighted (balanced) so the rare BAD strokes actually count during training.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0760" y="1783080"/>
            <a:ext cx="5925710" cy="4023360"/>
          </a:xfrm>
          <a:prstGeom prst="roundRect">
            <a:avLst>
              <a:gd name="adj" fmla="val 2273"/>
            </a:avLst>
          </a:prstGeom>
          <a:solidFill>
            <a:srgbClr val="12333D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355080" y="193852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00" dirty="0"/>
          </a:p>
        </p:txBody>
      </p:sp>
      <p:pic>
        <p:nvPicPr>
          <p:cNvPr id="16" name="Image 2" descr="../assets/image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55079" y="2331720"/>
            <a:ext cx="5328159" cy="32918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 · 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is misleading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842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(majority)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41448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9A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95.1%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953512"/>
            <a:ext cx="147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84120" y="2441448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84120" y="2953512"/>
            <a:ext cx="147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62400" y="2441448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962400" y="2953512"/>
            <a:ext cx="147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GOOD for everything — BAD recall 0.00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88620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E9F7F2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40873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544568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9A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96.8%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05840" y="5056632"/>
            <a:ext cx="147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84120" y="4544568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9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484120" y="5056632"/>
            <a:ext cx="147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62400" y="4544568"/>
            <a:ext cx="1478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9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962400" y="5056632"/>
            <a:ext cx="1478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53492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45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separates the classes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1783080"/>
            <a:ext cx="544068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pic>
        <p:nvPicPr>
          <p:cNvPr id="24" name="Image 0" descr="../assets/image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1984248"/>
            <a:ext cx="4892040" cy="2359152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080760" y="466344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0E3744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983480"/>
            <a:ext cx="457200" cy="4572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995160" y="477316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models score ~96% accuracy, but only the Random Forest moves ROC-AUC to 0.97 and Macro F1 to 0.82.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9" name="Text 25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Fail: Imbalanced Dataset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7568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9E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2807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strokes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8745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207568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6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480560" y="2807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strokes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09560" y="18745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92440" y="207568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C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≈17 : 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092440" y="2807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ratio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520440"/>
            <a:ext cx="64465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Strokes per class</a:t>
            </a:r>
            <a:endParaRPr lang="en-US" sz="13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868680" y="4023360"/>
          <a:ext cx="612648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3"/>
          <p:cNvSpPr/>
          <p:nvPr/>
        </p:nvSpPr>
        <p:spPr>
          <a:xfrm>
            <a:off x="7315200" y="1874520"/>
            <a:ext cx="4206240" cy="3977640"/>
          </a:xfrm>
          <a:prstGeom prst="roundRect">
            <a:avLst>
              <a:gd name="adj" fmla="val 2299"/>
            </a:avLst>
          </a:prstGeom>
          <a:solidFill>
            <a:srgbClr val="0E3744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589520" y="2194560"/>
            <a:ext cx="685800" cy="685800"/>
          </a:xfrm>
          <a:prstGeom prst="ellipse">
            <a:avLst/>
          </a:prstGeom>
          <a:solidFill>
            <a:srgbClr val="EC9A1E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2340864"/>
            <a:ext cx="393192" cy="39319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5895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589520" y="35204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r>
              <a:rPr lang="en-US" sz="14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accuracy is reachable by a model that </a:t>
            </a: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predicts GOOD</a:t>
            </a:r>
            <a:r>
              <a:rPr lang="en-US" sz="14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while learning nothing about technique.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2" name="Text 18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Concern: Data Quality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121408"/>
            <a:ext cx="585216" cy="585216"/>
          </a:xfrm>
          <a:prstGeom prst="ellipse">
            <a:avLst/>
          </a:prstGeom>
          <a:solidFill>
            <a:srgbClr val="F6D8D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21284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five videos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377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dataset is very small.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320040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41832" y="3493008"/>
            <a:ext cx="585216" cy="585216"/>
          </a:xfrm>
          <a:prstGeom prst="ellipse">
            <a:avLst/>
          </a:prstGeom>
          <a:solidFill>
            <a:srgbClr val="F6D8D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58444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383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strokes from only one source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3749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low-quality stroke came from a single video.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5800" y="457200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1832" y="4864608"/>
            <a:ext cx="585216" cy="585216"/>
          </a:xfrm>
          <a:prstGeom prst="ellipse">
            <a:avLst/>
          </a:prstGeom>
          <a:solidFill>
            <a:srgbClr val="F6D8D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95604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754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Memorization risk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5120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learns that one video instead of technique.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720840" y="1828800"/>
            <a:ext cx="48006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995160" y="199339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Training a 3D-CNN</a:t>
            </a:r>
            <a:endParaRPr lang="en-US" sz="1300" dirty="0"/>
          </a:p>
        </p:txBody>
      </p:sp>
      <p:pic>
        <p:nvPicPr>
          <p:cNvPr id="21" name="Image 3" descr="../assets/cnn3d_training.png"/>
          <p:cNvPicPr>
            <a:picLocks noChangeAspect="1"/>
          </p:cNvPicPr>
          <p:nvPr/>
        </p:nvPicPr>
        <p:blipFill>
          <a:blip r:embed="rId6"/>
          <a:srcRect t="11351" r="49696"/>
          <a:stretch>
            <a:fillRect/>
          </a:stretch>
        </p:blipFill>
        <p:spPr>
          <a:xfrm>
            <a:off x="7386265" y="2285677"/>
            <a:ext cx="3469750" cy="1952567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720840" y="4251960"/>
            <a:ext cx="4800600" cy="1371600"/>
          </a:xfrm>
          <a:prstGeom prst="roundRect">
            <a:avLst>
              <a:gd name="adj" fmla="val 6667"/>
            </a:avLst>
          </a:prstGeom>
          <a:solidFill>
            <a:srgbClr val="FBF1DF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3448" y="4617720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26680" y="438912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E4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3D-CNN's training documentation confirms these concerns — strong train/validation divergence points to memorization.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6" name="Text 19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Concern: Data Quality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121408"/>
            <a:ext cx="585216" cy="585216"/>
          </a:xfrm>
          <a:prstGeom prst="ellipse">
            <a:avLst/>
          </a:prstGeom>
          <a:solidFill>
            <a:srgbClr val="F6D8D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21284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five videos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377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dataset is very small.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320040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41832" y="3493008"/>
            <a:ext cx="585216" cy="585216"/>
          </a:xfrm>
          <a:prstGeom prst="ellipse">
            <a:avLst/>
          </a:prstGeom>
          <a:solidFill>
            <a:srgbClr val="F6D8D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58444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383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strokes from one source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3749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low-quality stroke came from a single video.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5800" y="457200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FBEDEC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1832" y="4864608"/>
            <a:ext cx="585216" cy="585216"/>
          </a:xfrm>
          <a:prstGeom prst="ellipse">
            <a:avLst/>
          </a:prstGeom>
          <a:solidFill>
            <a:srgbClr val="F6D8D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95604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754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Memorization risk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5120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A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may learn that one video instead of technique.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720840" y="1828800"/>
            <a:ext cx="4800600" cy="3931920"/>
          </a:xfrm>
          <a:prstGeom prst="roundRect">
            <a:avLst>
              <a:gd name="adj" fmla="val 2326"/>
            </a:avLst>
          </a:prstGeom>
          <a:solidFill>
            <a:srgbClr val="0E3744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0" y="2148840"/>
            <a:ext cx="731520" cy="731520"/>
          </a:xfrm>
          <a:prstGeom prst="ellipse">
            <a:avLst/>
          </a:prstGeom>
          <a:solidFill>
            <a:srgbClr val="0FB5A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23317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55280" y="22402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solution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086600" y="306324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Steadily extend the dataset — record more sessions, leaving out bad strokes to stabilise the GOOD class.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7086600" y="4343400"/>
            <a:ext cx="4069080" cy="0"/>
          </a:xfrm>
          <a:prstGeom prst="line">
            <a:avLst/>
          </a:prstGeom>
          <a:noFill/>
          <a:ln w="12700">
            <a:solidFill>
              <a:srgbClr val="2A4E5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086600" y="44805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so far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086600" y="48006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13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clean videos  · 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405</a:t>
            </a:r>
            <a:r>
              <a:rPr lang="en-US" sz="13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strokes  · 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3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frames without a pose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8" name="Text 22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self-recorded videos</a:t>
            </a:r>
            <a:endParaRPr lang="en-US" sz="3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10378440" cy="34747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 (s)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Orig. fps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Red. fps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Orig. frames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Red. frames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No-pose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Strokes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A331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cla-BAD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4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4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4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4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4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4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4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40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cla-GOOD-fast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cla-GOOD-slow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mar-GOOD-fast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mar-GOOD-slow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sim-GOOD-fast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sim-GOOD-slow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4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sim-GOOD-slow2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F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1124.1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33 723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11 244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68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532120"/>
            <a:ext cx="2020824" cy="777240"/>
          </a:xfrm>
          <a:prstGeom prst="roundRect">
            <a:avLst>
              <a:gd name="adj" fmla="val 9412"/>
            </a:avLst>
          </a:prstGeom>
          <a:solidFill>
            <a:srgbClr val="0E3744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560527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598932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89504" y="5532120"/>
            <a:ext cx="2020824" cy="777240"/>
          </a:xfrm>
          <a:prstGeom prst="roundRect">
            <a:avLst>
              <a:gd name="adj" fmla="val 9412"/>
            </a:avLst>
          </a:prstGeom>
          <a:solidFill>
            <a:srgbClr val="0E3744"/>
          </a:solidFill>
          <a:ln/>
        </p:spPr>
      </p:sp>
      <p:sp>
        <p:nvSpPr>
          <p:cNvPr id="10" name="Text 7"/>
          <p:cNvSpPr/>
          <p:nvPr/>
        </p:nvSpPr>
        <p:spPr>
          <a:xfrm>
            <a:off x="2889504" y="560527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≈18.7 min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889504" y="598932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93208" y="5532120"/>
            <a:ext cx="2020824" cy="777240"/>
          </a:xfrm>
          <a:prstGeom prst="roundRect">
            <a:avLst>
              <a:gd name="adj" fmla="val 9412"/>
            </a:avLst>
          </a:prstGeom>
          <a:solidFill>
            <a:srgbClr val="0E3744"/>
          </a:solidFill>
          <a:ln/>
        </p:spPr>
      </p:sp>
      <p:sp>
        <p:nvSpPr>
          <p:cNvPr id="13" name="Text 10"/>
          <p:cNvSpPr/>
          <p:nvPr/>
        </p:nvSpPr>
        <p:spPr>
          <a:xfrm>
            <a:off x="5093208" y="560527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426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093208" y="598932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296912" y="5532120"/>
            <a:ext cx="2020824" cy="777240"/>
          </a:xfrm>
          <a:prstGeom prst="roundRect">
            <a:avLst>
              <a:gd name="adj" fmla="val 9412"/>
            </a:avLst>
          </a:prstGeom>
          <a:solidFill>
            <a:srgbClr val="0E3744"/>
          </a:solidFill>
          <a:ln/>
        </p:spPr>
      </p:sp>
      <p:sp>
        <p:nvSpPr>
          <p:cNvPr id="16" name="Text 13"/>
          <p:cNvSpPr/>
          <p:nvPr/>
        </p:nvSpPr>
        <p:spPr>
          <a:xfrm>
            <a:off x="7296912" y="560527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11 244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296912" y="598932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frames</a:t>
            </a:r>
            <a:endParaRPr lang="en-US" sz="1000" dirty="0"/>
          </a:p>
        </p:txBody>
      </p:sp>
      <p:sp>
        <p:nvSpPr>
          <p:cNvPr id="5" name="Shape 15"/>
          <p:cNvSpPr/>
          <p:nvPr/>
        </p:nvSpPr>
        <p:spPr>
          <a:xfrm>
            <a:off x="9500616" y="5532120"/>
            <a:ext cx="2020824" cy="777240"/>
          </a:xfrm>
          <a:prstGeom prst="roundRect">
            <a:avLst>
              <a:gd name="adj" fmla="val 9412"/>
            </a:avLst>
          </a:prstGeom>
          <a:solidFill>
            <a:srgbClr val="0E3744"/>
          </a:solidFill>
          <a:ln/>
        </p:spPr>
      </p:sp>
      <p:sp>
        <p:nvSpPr>
          <p:cNvPr id="19" name="Text 16"/>
          <p:cNvSpPr/>
          <p:nvPr/>
        </p:nvSpPr>
        <p:spPr>
          <a:xfrm>
            <a:off x="9500616" y="560527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500616" y="598932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no-pose frames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Autoencoder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detection.  </a:t>
            </a:r>
            <a:r>
              <a:rPr lang="en-US" sz="1350" dirty="0">
                <a:solidFill>
                  <a:srgbClr val="3C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only on good strokes, the model reconstructs correct technique well — faulty strokes reconstruct poorly and stand out by a high error.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58521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87168"/>
            <a:ext cx="603504" cy="603504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5786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77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737360" y="2743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good strokes only — learn to reconstruct correct technique.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3547872"/>
            <a:ext cx="58521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0120" y="3840480"/>
            <a:ext cx="603504" cy="603504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931920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37307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737360" y="40965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sequences, not single frames (window 24, stride 12).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85800" y="4901184"/>
            <a:ext cx="58521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5193792"/>
            <a:ext cx="603504" cy="603504"/>
          </a:xfrm>
          <a:prstGeom prst="ellipse">
            <a:avLst/>
          </a:prstGeom>
          <a:solidFill>
            <a:srgbClr val="E6F6F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285232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508406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737360" y="54498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25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from the training MSE; strokes whose error exceeds it are flagged BAD.</a:t>
            </a:r>
            <a:endParaRPr lang="en-US" sz="1250" dirty="0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BD056346-DA71-3F16-2A54-B27382D5ED81}"/>
              </a:ext>
            </a:extLst>
          </p:cNvPr>
          <p:cNvGrpSpPr/>
          <p:nvPr/>
        </p:nvGrpSpPr>
        <p:grpSpPr>
          <a:xfrm>
            <a:off x="6812280" y="2194560"/>
            <a:ext cx="5214068" cy="3913632"/>
            <a:chOff x="6812280" y="2194560"/>
            <a:chExt cx="4709160" cy="3566160"/>
          </a:xfrm>
        </p:grpSpPr>
        <p:sp>
          <p:nvSpPr>
            <p:cNvPr id="20" name="Shape 15"/>
            <p:cNvSpPr/>
            <p:nvPr/>
          </p:nvSpPr>
          <p:spPr>
            <a:xfrm>
              <a:off x="6812280" y="2194560"/>
              <a:ext cx="4709160" cy="3566160"/>
            </a:xfrm>
            <a:prstGeom prst="roundRect">
              <a:avLst>
                <a:gd name="adj" fmla="val 2564"/>
              </a:avLst>
            </a:prstGeom>
            <a:solidFill>
              <a:srgbClr val="12333D"/>
            </a:solidFill>
            <a:ln/>
            <a:effectLst>
              <a:outerShdw blurRad="114300" dist="38100" dir="5400000" algn="bl" rotWithShape="0">
                <a:srgbClr val="1B3A45">
                  <a:alpha val="16000"/>
                </a:srgbClr>
              </a:outerShdw>
            </a:effectLst>
          </p:spPr>
        </p:sp>
        <p:sp>
          <p:nvSpPr>
            <p:cNvPr id="21" name="Text 16"/>
            <p:cNvSpPr/>
            <p:nvPr/>
          </p:nvSpPr>
          <p:spPr>
            <a:xfrm>
              <a:off x="7086600" y="2331720"/>
              <a:ext cx="41605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100" dirty="0">
                  <a:solidFill>
                    <a:srgbClr val="2DD4B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LSTM Autoencoder  ·  Implementation</a:t>
              </a:r>
              <a:endParaRPr lang="en-US" sz="1100" dirty="0"/>
            </a:p>
          </p:txBody>
        </p:sp>
        <p:pic>
          <p:nvPicPr>
            <p:cNvPr id="22" name="Image 3" descr="../assets/lstm_code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7086600" y="2697480"/>
              <a:ext cx="4160520" cy="2926080"/>
            </a:xfrm>
            <a:prstGeom prst="rect">
              <a:avLst/>
            </a:prstGeom>
          </p:spPr>
        </p:pic>
      </p:grpSp>
      <p:sp>
        <p:nvSpPr>
          <p:cNvPr id="23" name="Shape 17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4" name="Text 18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C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APPROACH  · 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3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autoencoder results</a:t>
            </a:r>
            <a:endParaRPr lang="en-US" sz="3300" dirty="0"/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E36D2F4C-4EDB-A8C4-75E2-5ABD8D42FAEA}"/>
              </a:ext>
            </a:extLst>
          </p:cNvPr>
          <p:cNvGrpSpPr/>
          <p:nvPr/>
        </p:nvGrpSpPr>
        <p:grpSpPr>
          <a:xfrm>
            <a:off x="685800" y="1311965"/>
            <a:ext cx="5989320" cy="2345635"/>
            <a:chOff x="685800" y="1783080"/>
            <a:chExt cx="5989320" cy="1874520"/>
          </a:xfrm>
        </p:grpSpPr>
        <p:sp>
          <p:nvSpPr>
            <p:cNvPr id="4" name="Shape 2"/>
            <p:cNvSpPr/>
            <p:nvPr/>
          </p:nvSpPr>
          <p:spPr>
            <a:xfrm>
              <a:off x="685800" y="1783080"/>
              <a:ext cx="5989320" cy="1874520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1B3A45">
                  <a:alpha val="16000"/>
                </a:srgbClr>
              </a:outerShdw>
            </a:effectLst>
          </p:spPr>
        </p:sp>
        <p:sp>
          <p:nvSpPr>
            <p:cNvPr id="5" name="Text 3"/>
            <p:cNvSpPr/>
            <p:nvPr/>
          </p:nvSpPr>
          <p:spPr>
            <a:xfrm>
              <a:off x="960120" y="1901952"/>
              <a:ext cx="5440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3242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Training &amp; validation loss</a:t>
              </a:r>
              <a:endParaRPr lang="en-US" sz="1150" dirty="0"/>
            </a:p>
          </p:txBody>
        </p:sp>
        <p:pic>
          <p:nvPicPr>
            <p:cNvPr id="6" name="Image 0" descr="../assets/lstm_loss.png"/>
            <p:cNvPicPr>
              <a:picLocks noChangeAspect="1"/>
            </p:cNvPicPr>
            <p:nvPr/>
          </p:nvPicPr>
          <p:blipFill>
            <a:blip r:embed="rId3"/>
            <a:srcRect t="6207"/>
            <a:stretch>
              <a:fillRect/>
            </a:stretch>
          </p:blipFill>
          <p:spPr>
            <a:xfrm>
              <a:off x="1005840" y="2295144"/>
              <a:ext cx="5349240" cy="1243584"/>
            </a:xfrm>
            <a:prstGeom prst="rect">
              <a:avLst/>
            </a:prstGeom>
          </p:spPr>
        </p:pic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0A3BD9A1-6EB3-3DD1-AEA7-66A4637EF7BC}"/>
              </a:ext>
            </a:extLst>
          </p:cNvPr>
          <p:cNvGrpSpPr/>
          <p:nvPr/>
        </p:nvGrpSpPr>
        <p:grpSpPr>
          <a:xfrm>
            <a:off x="685800" y="3840480"/>
            <a:ext cx="5989320" cy="2267712"/>
            <a:chOff x="685800" y="3840480"/>
            <a:chExt cx="5989320" cy="1828800"/>
          </a:xfrm>
        </p:grpSpPr>
        <p:sp>
          <p:nvSpPr>
            <p:cNvPr id="7" name="Shape 4"/>
            <p:cNvSpPr/>
            <p:nvPr/>
          </p:nvSpPr>
          <p:spPr>
            <a:xfrm>
              <a:off x="685800" y="3840480"/>
              <a:ext cx="5989320" cy="1828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1B3A45">
                  <a:alpha val="16000"/>
                </a:srgbClr>
              </a:outerShdw>
            </a:effectLst>
          </p:spPr>
        </p:sp>
        <p:sp>
          <p:nvSpPr>
            <p:cNvPr id="8" name="Text 5"/>
            <p:cNvSpPr/>
            <p:nvPr/>
          </p:nvSpPr>
          <p:spPr>
            <a:xfrm>
              <a:off x="960120" y="3950208"/>
              <a:ext cx="5440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3242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Confusion matrix &amp; ROC curve</a:t>
              </a:r>
              <a:endParaRPr lang="en-US" sz="1150" dirty="0"/>
            </a:p>
          </p:txBody>
        </p:sp>
        <p:pic>
          <p:nvPicPr>
            <p:cNvPr id="9" name="Image 1" descr="../assets/lstm_confroc.png"/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1005840" y="4251960"/>
              <a:ext cx="5349240" cy="1325880"/>
            </a:xfrm>
            <a:prstGeom prst="rect">
              <a:avLst/>
            </a:prstGeom>
          </p:spPr>
        </p:pic>
      </p:grpSp>
      <p:sp>
        <p:nvSpPr>
          <p:cNvPr id="10" name="Shape 6"/>
          <p:cNvSpPr/>
          <p:nvPr/>
        </p:nvSpPr>
        <p:spPr>
          <a:xfrm>
            <a:off x="6903720" y="1783080"/>
            <a:ext cx="14295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903720" y="1901952"/>
            <a:ext cx="1429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6903720" y="2487168"/>
            <a:ext cx="142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497824" y="1783080"/>
            <a:ext cx="14295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497824" y="1901952"/>
            <a:ext cx="1429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C9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</a:t>
            </a:r>
            <a:endParaRPr lang="en-US" sz="2700" dirty="0"/>
          </a:p>
        </p:txBody>
      </p:sp>
      <p:sp>
        <p:nvSpPr>
          <p:cNvPr id="15" name="Text 11"/>
          <p:cNvSpPr/>
          <p:nvPr/>
        </p:nvSpPr>
        <p:spPr>
          <a:xfrm>
            <a:off x="8497824" y="2487168"/>
            <a:ext cx="142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0091928" y="1783080"/>
            <a:ext cx="14295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10091928" y="1901952"/>
            <a:ext cx="1429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F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</a:t>
            </a:r>
            <a:endParaRPr lang="en-US" sz="2700" dirty="0"/>
          </a:p>
        </p:txBody>
      </p:sp>
      <p:sp>
        <p:nvSpPr>
          <p:cNvPr id="18" name="Text 14"/>
          <p:cNvSpPr/>
          <p:nvPr/>
        </p:nvSpPr>
        <p:spPr>
          <a:xfrm>
            <a:off x="10091928" y="2487168"/>
            <a:ext cx="142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903720" y="3017520"/>
            <a:ext cx="4617720" cy="1170432"/>
          </a:xfrm>
          <a:prstGeom prst="roundRect">
            <a:avLst>
              <a:gd name="adj" fmla="val 7813"/>
            </a:avLst>
          </a:prstGeom>
          <a:solidFill>
            <a:srgbClr val="E9F7F2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78040" y="3310128"/>
            <a:ext cx="548640" cy="548640"/>
          </a:xfrm>
          <a:prstGeom prst="ellipse">
            <a:avLst/>
          </a:prstGeom>
          <a:solidFill>
            <a:srgbClr val="1E9E54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3419856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909560" y="31821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6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strokes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7909560" y="35478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7909560" y="38862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9052560" y="35478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9052560" y="38862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10195560" y="35478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10195560" y="38862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903720" y="4352544"/>
            <a:ext cx="4617720" cy="1170432"/>
          </a:xfrm>
          <a:prstGeom prst="roundRect">
            <a:avLst>
              <a:gd name="adj" fmla="val 7813"/>
            </a:avLst>
          </a:prstGeom>
          <a:solidFill>
            <a:srgbClr val="FBEAE8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178040" y="4645152"/>
            <a:ext cx="548640" cy="548640"/>
          </a:xfrm>
          <a:prstGeom prst="ellipse">
            <a:avLst/>
          </a:prstGeom>
          <a:solidFill>
            <a:srgbClr val="D6453B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768" y="4754880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909560" y="45171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strokes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7909560" y="488289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909560" y="52212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9052560" y="488289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9052560" y="52212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10195560" y="488289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331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0.39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10195560" y="522122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6903720" y="5532120"/>
            <a:ext cx="4617720" cy="868680"/>
          </a:xfrm>
          <a:prstGeom prst="roundRect">
            <a:avLst>
              <a:gd name="adj" fmla="val 10526"/>
            </a:avLst>
          </a:prstGeom>
          <a:solidFill>
            <a:srgbClr val="0E3744"/>
          </a:solidFill>
          <a:ln/>
          <a:effectLst>
            <a:outerShdw blurRad="114300" dist="38100" dir="5400000" algn="bl" rotWithShape="0">
              <a:srgbClr val="1B3A45">
                <a:alpha val="16000"/>
              </a:srgbClr>
            </a:outerShdw>
          </a:effectLst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9752" y="5779008"/>
            <a:ext cx="384048" cy="38404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680960" y="560527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strokes are caught well; bad strokes stay hard (recall 0.39) — more varied bad examples are needed.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85800" y="6510528"/>
            <a:ext cx="91440" cy="914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43" name="Text 36"/>
          <p:cNvSpPr/>
          <p:nvPr/>
        </p:nvSpPr>
        <p:spPr>
          <a:xfrm>
            <a:off x="868680" y="6400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Rowing Technique on an Ergometer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11155680" y="6400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E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11414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94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2128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so far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51560" y="2880360"/>
            <a:ext cx="4617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pipeline: MediaPipe → features → model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across angles &amp; body proportions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segmentation and leak-free, stroke-aware split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baseline — Random Forest at Macro F1 0.82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autoencoder built and evaluated (ROC-AUC 0.67)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6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extended to 8 videos incl. first bad-technique clip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92024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0E374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286000"/>
            <a:ext cx="50292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22128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629400" y="288036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more &amp; more varied BAD strokes (rowers, error types)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bad-stroke recall beyond 0.39 — tune threshold &amp; window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the autoencoder against the RF baseline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endParaRPr lang="en-US" sz="1250" dirty="0">
              <a:solidFill>
                <a:srgbClr val="E4F0F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18000"/>
              </a:lnSpc>
              <a:spcAft>
                <a:spcPts val="800"/>
              </a:spcAft>
              <a:buSzPct val="100000"/>
            </a:pPr>
            <a:r>
              <a:rPr lang="en-US" sz="12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Day:</a:t>
            </a:r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Per-phase feedback on catch and finish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F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· 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2635</Words>
  <Application>Microsoft Macintosh PowerPoint</Application>
  <PresentationFormat>Breitbild</PresentationFormat>
  <Paragraphs>474</Paragraphs>
  <Slides>21</Slides>
  <Notes>21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Assessing Rowing Technique on an Ergometer</dc:title>
  <dc:subject>PptxGenJS Presentation</dc:subject>
  <dc:creator>Lukas</dc:creator>
  <cp:lastModifiedBy>cbrilke@posteo.de</cp:lastModifiedBy>
  <cp:revision>8</cp:revision>
  <dcterms:created xsi:type="dcterms:W3CDTF">2026-06-25T10:52:31Z</dcterms:created>
  <dcterms:modified xsi:type="dcterms:W3CDTF">2026-06-25T17:17:11Z</dcterms:modified>
</cp:coreProperties>
</file>